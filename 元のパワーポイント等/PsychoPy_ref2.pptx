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305" r:id="rId3"/>
    <p:sldId id="310" r:id="rId4"/>
    <p:sldId id="308" r:id="rId5"/>
    <p:sldId id="314" r:id="rId6"/>
    <p:sldId id="313" r:id="rId7"/>
    <p:sldId id="317" r:id="rId8"/>
    <p:sldId id="318" r:id="rId9"/>
    <p:sldId id="315" r:id="rId10"/>
    <p:sldId id="319" r:id="rId11"/>
    <p:sldId id="321" r:id="rId12"/>
    <p:sldId id="311" r:id="rId13"/>
    <p:sldId id="322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349717-0256-47DC-934C-167EBAB31913}" v="49" dt="2020-07-27T07:47:36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2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yama asako" userId="91b7d83d1f873051" providerId="LiveId" clId="{4B349717-0256-47DC-934C-167EBAB31913}"/>
    <pc:docChg chg="undo custSel addSld delSld modSld">
      <pc:chgData name="toyama asako" userId="91b7d83d1f873051" providerId="LiveId" clId="{4B349717-0256-47DC-934C-167EBAB31913}" dt="2020-07-27T08:02:14.813" v="198" actId="20577"/>
      <pc:docMkLst>
        <pc:docMk/>
      </pc:docMkLst>
      <pc:sldChg chg="modSp mod">
        <pc:chgData name="toyama asako" userId="91b7d83d1f873051" providerId="LiveId" clId="{4B349717-0256-47DC-934C-167EBAB31913}" dt="2020-07-27T07:46:54.648" v="188" actId="6549"/>
        <pc:sldMkLst>
          <pc:docMk/>
          <pc:sldMk cId="3495868243" sldId="271"/>
        </pc:sldMkLst>
        <pc:spChg chg="mod">
          <ac:chgData name="toyama asako" userId="91b7d83d1f873051" providerId="LiveId" clId="{4B349717-0256-47DC-934C-167EBAB31913}" dt="2020-07-27T07:46:54.648" v="188" actId="6549"/>
          <ac:spMkLst>
            <pc:docMk/>
            <pc:sldMk cId="3495868243" sldId="271"/>
            <ac:spMk id="2" creationId="{A1FD5770-194F-4043-BDEE-47C77DDE6413}"/>
          </ac:spMkLst>
        </pc:spChg>
      </pc:sldChg>
      <pc:sldChg chg="del">
        <pc:chgData name="toyama asako" userId="91b7d83d1f873051" providerId="LiveId" clId="{4B349717-0256-47DC-934C-167EBAB31913}" dt="2020-07-27T07:46:59.249" v="189" actId="47"/>
        <pc:sldMkLst>
          <pc:docMk/>
          <pc:sldMk cId="425856113" sldId="283"/>
        </pc:sldMkLst>
      </pc:sldChg>
      <pc:sldChg chg="modSp mod">
        <pc:chgData name="toyama asako" userId="91b7d83d1f873051" providerId="LiveId" clId="{4B349717-0256-47DC-934C-167EBAB31913}" dt="2020-07-27T07:47:36.909" v="192" actId="207"/>
        <pc:sldMkLst>
          <pc:docMk/>
          <pc:sldMk cId="2723458657" sldId="308"/>
        </pc:sldMkLst>
        <pc:spChg chg="mod">
          <ac:chgData name="toyama asako" userId="91b7d83d1f873051" providerId="LiveId" clId="{4B349717-0256-47DC-934C-167EBAB31913}" dt="2020-07-27T07:47:36.909" v="192" actId="207"/>
          <ac:spMkLst>
            <pc:docMk/>
            <pc:sldMk cId="2723458657" sldId="308"/>
            <ac:spMk id="5" creationId="{21B66C2F-8A76-417D-9000-244221BFAD32}"/>
          </ac:spMkLst>
        </pc:spChg>
      </pc:sldChg>
      <pc:sldChg chg="addSp delSp modSp new mod">
        <pc:chgData name="toyama asako" userId="91b7d83d1f873051" providerId="LiveId" clId="{4B349717-0256-47DC-934C-167EBAB31913}" dt="2020-07-27T08:02:14.813" v="198" actId="20577"/>
        <pc:sldMkLst>
          <pc:docMk/>
          <pc:sldMk cId="562164124" sldId="322"/>
        </pc:sldMkLst>
        <pc:spChg chg="mod">
          <ac:chgData name="toyama asako" userId="91b7d83d1f873051" providerId="LiveId" clId="{4B349717-0256-47DC-934C-167EBAB31913}" dt="2020-07-27T07:40:57.505" v="29"/>
          <ac:spMkLst>
            <pc:docMk/>
            <pc:sldMk cId="562164124" sldId="322"/>
            <ac:spMk id="2" creationId="{A6D0F334-1FEE-4F06-9A05-08AEFBF75DBF}"/>
          </ac:spMkLst>
        </pc:spChg>
        <pc:spChg chg="mod">
          <ac:chgData name="toyama asako" userId="91b7d83d1f873051" providerId="LiveId" clId="{4B349717-0256-47DC-934C-167EBAB31913}" dt="2020-07-27T08:02:14.813" v="198" actId="20577"/>
          <ac:spMkLst>
            <pc:docMk/>
            <pc:sldMk cId="562164124" sldId="322"/>
            <ac:spMk id="3" creationId="{0FD830CA-CD4D-43CD-BC07-2A311FE48D6E}"/>
          </ac:spMkLst>
        </pc:spChg>
        <pc:spChg chg="add del mod">
          <ac:chgData name="toyama asako" userId="91b7d83d1f873051" providerId="LiveId" clId="{4B349717-0256-47DC-934C-167EBAB31913}" dt="2020-07-27T07:43:07.605" v="136"/>
          <ac:spMkLst>
            <pc:docMk/>
            <pc:sldMk cId="562164124" sldId="322"/>
            <ac:spMk id="6" creationId="{0BA33197-1A5E-4FD4-AA4B-2D724AF685F5}"/>
          </ac:spMkLst>
        </pc:spChg>
        <pc:graphicFrameChg chg="add del mod">
          <ac:chgData name="toyama asako" userId="91b7d83d1f873051" providerId="LiveId" clId="{4B349717-0256-47DC-934C-167EBAB31913}" dt="2020-07-27T07:43:07.605" v="136"/>
          <ac:graphicFrameMkLst>
            <pc:docMk/>
            <pc:sldMk cId="562164124" sldId="322"/>
            <ac:graphicFrameMk id="5" creationId="{3E1BFA57-8195-46EA-B608-B1686BDEAD6C}"/>
          </ac:graphicFrameMkLst>
        </pc:graphicFrameChg>
      </pc:sldChg>
    </pc:docChg>
  </pc:docChgLst>
  <pc:docChgLst>
    <pc:chgData name="asako toyama" userId="91b7d83d1f873051" providerId="LiveId" clId="{B07B06D7-A8A7-427A-B4DE-4E9E5A0D2FA6}"/>
    <pc:docChg chg="delSld modSld">
      <pc:chgData name="asako toyama" userId="91b7d83d1f873051" providerId="LiveId" clId="{B07B06D7-A8A7-427A-B4DE-4E9E5A0D2FA6}" dt="2019-11-08T03:28:46.148" v="324" actId="113"/>
      <pc:docMkLst>
        <pc:docMk/>
      </pc:docMkLst>
      <pc:sldChg chg="del">
        <pc:chgData name="asako toyama" userId="91b7d83d1f873051" providerId="LiveId" clId="{B07B06D7-A8A7-427A-B4DE-4E9E5A0D2FA6}" dt="2019-11-08T01:44:31.173" v="0" actId="2696"/>
        <pc:sldMkLst>
          <pc:docMk/>
          <pc:sldMk cId="1980896993" sldId="306"/>
        </pc:sldMkLst>
      </pc:sldChg>
      <pc:sldChg chg="modSp">
        <pc:chgData name="asako toyama" userId="91b7d83d1f873051" providerId="LiveId" clId="{B07B06D7-A8A7-427A-B4DE-4E9E5A0D2FA6}" dt="2019-11-08T03:28:46.148" v="324" actId="113"/>
        <pc:sldMkLst>
          <pc:docMk/>
          <pc:sldMk cId="2651807573" sldId="311"/>
        </pc:sldMkLst>
        <pc:spChg chg="mod">
          <ac:chgData name="asako toyama" userId="91b7d83d1f873051" providerId="LiveId" clId="{B07B06D7-A8A7-427A-B4DE-4E9E5A0D2FA6}" dt="2019-11-08T03:28:46.148" v="324" actId="113"/>
          <ac:spMkLst>
            <pc:docMk/>
            <pc:sldMk cId="2651807573" sldId="311"/>
            <ac:spMk id="2" creationId="{52010573-1BC9-464A-9408-06EEEFB632F2}"/>
          </ac:spMkLst>
        </pc:spChg>
        <pc:spChg chg="mod">
          <ac:chgData name="asako toyama" userId="91b7d83d1f873051" providerId="LiveId" clId="{B07B06D7-A8A7-427A-B4DE-4E9E5A0D2FA6}" dt="2019-11-08T03:28:35.760" v="323"/>
          <ac:spMkLst>
            <pc:docMk/>
            <pc:sldMk cId="2651807573" sldId="311"/>
            <ac:spMk id="3" creationId="{630CC4D9-8C85-4BA2-AC06-0889E21C517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EA2D0-356D-4221-848C-E2BDB027BD9B}" type="datetimeFigureOut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DC80D-5F42-45E3-BBBD-723E2F635B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325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299C6-C62D-4100-B35B-B986AF443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23DC4C-7A29-4CFB-982E-DFAB904CE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41786C-CE45-46C6-AF4A-76356B5E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FE070-275F-4106-B8A6-ADF659DB314E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B8BFB6-1183-4BFD-A2BD-BF35D029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800743-DD7A-409A-9B26-7E6E338B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78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EDDACD-0576-4604-B637-9F33B40F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B5391C-B515-4310-9155-F9D4C7B0F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F6BDCF-89FC-477F-9861-AB6F3D01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A4F48-3C24-4176-BD0F-AAC5AB260B88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52A642-ADA9-4B4D-8EE0-6D17E516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168423-21B2-4E9F-B423-C45DFF4C6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7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9E408-42E6-44C7-919B-4F34FA059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243362-86A4-4B06-8EA7-5ECC1E68B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EAA54-F4F7-4F21-8DB0-2D90BE62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E0CE1-5A62-49EE-B6E4-0B8DC7BD623D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169659-E559-4C07-9C25-B2845988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01E77B-C28C-4626-A108-43423693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311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FB842-36EF-4641-BC57-042C091C8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C5BD05-6E81-48AF-8359-14D162913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6C5056-2DDD-4B63-8250-22EB23328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88D00E-ED14-45C1-8785-46882025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2523-9B47-4F0F-B213-0698565BF5E4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054D56-CCE2-4DB8-A57F-9F3AD769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C3E13E-FD85-4229-B4B3-AD5503CC6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28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CF9C3E-C993-4E4F-A251-05816E03D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4270A5-2E09-4FEB-9A57-701B1A2BE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A141E6-1C30-415F-9F42-2676939BB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8626452-9EA6-4837-92A3-E79F3DE10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60E5E73-931D-404A-85D2-F8A566745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82F2209-D23E-4EC2-B872-3501150A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66B0-3A27-4BB9-9799-B8331012C0D4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F4D9A0E-C25C-41B5-B380-995010E0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4FB1A41-6E39-4FC3-A2B2-F24F08AE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041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A78334-5744-4B49-898C-16BFAD26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9B5F0A-31B6-4F52-9DA6-4597DD55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41A-D8B8-4BFD-8393-2F432CB32B6E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15E25B6-EF22-4E98-A364-5B12B210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5922BF-FE51-4CB1-BEA0-5571911C5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41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2AFB5E7-FBE8-4B1D-8127-FDF98B62C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D0F6-0DEB-48F2-872D-7FB776A7061B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6DD10F6-5F1E-4B04-B9B1-6F3C8265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58E705-8B19-4CCB-B608-6CB857C0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5159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7115D-6DC9-40DD-BF4F-78A5CE0C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D18593-EAB1-4D8B-AEF2-A85E2B494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08FB96-31B9-4341-9FB5-66635C54E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FDD233-E07D-473E-98DA-AD61D528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6D4D9-C584-400F-9142-ED638A0EC1B9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B2177A-8CC6-45CF-BB18-2AB2254F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39401B-41F5-4A95-A8A4-762839C6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6617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C5534-1694-4DAB-9423-77E7FFD2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174D7E-85F0-4AD6-AE67-0E7467E32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3E0A5F-C863-423D-ACAB-7AC4BEABC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A012B2-8B19-4BB6-B1DB-D0472712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AB06-4433-4AB1-AF4F-6F368974DA84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3F3B47-E66C-4DC6-B6AD-54F38E28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3363FB-D6FF-41D8-8EAD-749A2614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63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14AF28-FE86-4AA9-BFFF-7D01125D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98C1490-67A7-407C-B8E3-2BE89F176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1054F9-9D02-4D29-89A9-0B53BF26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9548-859B-42EA-9B67-617AF15F2866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28CF97-1FE5-4AFC-859C-0F1E3910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92CC1F-EC18-4A64-8DE9-111BFD39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16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6CD63E-E1D3-4EF5-8BD0-388611C8A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4016B1-00B0-4C7B-BD6D-A6AE82F2A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4D7F32-7B9C-4C73-BB8D-BC8E834F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5F240-890B-40B6-B254-6D6FDF1516C2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F5BE8-CF36-42A2-A20F-BFCD619A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D61973-3ACD-4FDE-8DA9-E797A715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66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7D4FB6F-A645-4D16-BAAC-EB236A28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A9C9BB-EA99-47D0-B809-45066810C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1FC5FA-151D-45E8-899C-13D3D7A8D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052BC-5960-4C2A-B621-9A713AE3A555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5BF167-38B5-4116-8E06-A479EBD64F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0BFE9F-B6BD-43E0-BD7A-6C33DCF87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12605-B5D8-4D4A-8DB1-6F1C47ACF72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7579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D5770-194F-4043-BDEE-47C77DDE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	PsychoPy</a:t>
            </a:r>
            <a:r>
              <a:rPr kumimoji="1" lang="ja-JP" altLang="en-US" dirty="0"/>
              <a:t>で課題作成②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CDA1B7-3EDB-4843-941F-802A1DB8F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04B5A5-D026-4CF3-BD32-AEA6CC01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4941-32CA-4321-91E5-072AEC66C15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86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A8594-E9F5-46EB-86F5-D938E2E4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以下のような課題をつくりましょう。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D03264-BBE8-436F-A37F-8C8209BDC89E}"/>
              </a:ext>
            </a:extLst>
          </p:cNvPr>
          <p:cNvSpPr/>
          <p:nvPr/>
        </p:nvSpPr>
        <p:spPr>
          <a:xfrm>
            <a:off x="1151467" y="2159000"/>
            <a:ext cx="1972733" cy="127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＋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BE9C474-F058-4EBD-B71B-40A9A106743C}"/>
              </a:ext>
            </a:extLst>
          </p:cNvPr>
          <p:cNvGrpSpPr/>
          <p:nvPr/>
        </p:nvGrpSpPr>
        <p:grpSpPr>
          <a:xfrm>
            <a:off x="2523067" y="2794000"/>
            <a:ext cx="1972733" cy="1270000"/>
            <a:chOff x="2523067" y="2794000"/>
            <a:chExt cx="1972733" cy="12700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D5AB153-55BB-4B37-8241-55B380E51A60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9" name="図 8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296DF46C-05F0-4CFE-B20F-5EADD59A4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1" name="図 10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ED239777-69AA-43C6-9724-3F27C42AA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B9CBE6BA-CFC7-4A4E-A44C-4E37D7FC5378}"/>
              </a:ext>
            </a:extLst>
          </p:cNvPr>
          <p:cNvGrpSpPr/>
          <p:nvPr/>
        </p:nvGrpSpPr>
        <p:grpSpPr>
          <a:xfrm>
            <a:off x="3894667" y="3627967"/>
            <a:ext cx="1972733" cy="1270000"/>
            <a:chOff x="2523067" y="2794000"/>
            <a:chExt cx="1972733" cy="1270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CCE1A1E-9AB9-4317-B598-AEA5F71E8D6E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15" name="図 14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FC34DB2-BDF6-4C9C-BB79-2E492DDA6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6" name="図 15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4736306-6D42-4C6C-ADB3-0E6BD18FA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7FD0EFE-B35C-4A91-BC78-5104D50B5A35}"/>
              </a:ext>
            </a:extLst>
          </p:cNvPr>
          <p:cNvSpPr/>
          <p:nvPr/>
        </p:nvSpPr>
        <p:spPr>
          <a:xfrm>
            <a:off x="4097867" y="4445000"/>
            <a:ext cx="550333" cy="93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93EEC3-E23A-4B07-8D18-C598A3F3664A}"/>
              </a:ext>
            </a:extLst>
          </p:cNvPr>
          <p:cNvSpPr txBox="1"/>
          <p:nvPr/>
        </p:nvSpPr>
        <p:spPr>
          <a:xfrm>
            <a:off x="3124200" y="2116667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注視点　</a:t>
            </a:r>
            <a:r>
              <a:rPr kumimoji="1" lang="en-US" altLang="ja-JP" dirty="0"/>
              <a:t>0.5</a:t>
            </a:r>
            <a:r>
              <a:rPr kumimoji="1" lang="ja-JP" altLang="en-US" dirty="0"/>
              <a:t>秒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1F142B0-5C82-4769-8952-23A14487D932}"/>
              </a:ext>
            </a:extLst>
          </p:cNvPr>
          <p:cNvSpPr txBox="1"/>
          <p:nvPr/>
        </p:nvSpPr>
        <p:spPr>
          <a:xfrm>
            <a:off x="4495800" y="27653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選択画面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0EA4DEB-3F22-43F7-8473-CF661131DCC8}"/>
              </a:ext>
            </a:extLst>
          </p:cNvPr>
          <p:cNvSpPr txBox="1"/>
          <p:nvPr/>
        </p:nvSpPr>
        <p:spPr>
          <a:xfrm>
            <a:off x="5992598" y="3627967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ハイライト　</a:t>
            </a:r>
            <a:r>
              <a:rPr kumimoji="1" lang="en-US" altLang="ja-JP" dirty="0"/>
              <a:t>1</a:t>
            </a:r>
            <a:r>
              <a:rPr kumimoji="1" lang="ja-JP" altLang="en-US" dirty="0"/>
              <a:t>秒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F5B27C6-E063-4BB9-8EB1-FCC8AD8ABB71}"/>
              </a:ext>
            </a:extLst>
          </p:cNvPr>
          <p:cNvGrpSpPr/>
          <p:nvPr/>
        </p:nvGrpSpPr>
        <p:grpSpPr>
          <a:xfrm>
            <a:off x="5268697" y="4445000"/>
            <a:ext cx="1972733" cy="1270000"/>
            <a:chOff x="2523067" y="2794000"/>
            <a:chExt cx="1972733" cy="1270000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EA9FC85-2412-4DEC-84B4-99269A4724D2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23" name="図 22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575FF082-4CCB-433B-B5CA-BD4C644B9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24" name="図 23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5C61122E-D452-408D-88C7-50C62BAD6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4D90707-9BAD-41A8-B171-CBA2E3EDE059}"/>
              </a:ext>
            </a:extLst>
          </p:cNvPr>
          <p:cNvSpPr/>
          <p:nvPr/>
        </p:nvSpPr>
        <p:spPr>
          <a:xfrm>
            <a:off x="5490631" y="5270499"/>
            <a:ext cx="550333" cy="93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B46CE2-C91E-43B2-88DC-7C9A477FA241}"/>
              </a:ext>
            </a:extLst>
          </p:cNvPr>
          <p:cNvSpPr txBox="1"/>
          <p:nvPr/>
        </p:nvSpPr>
        <p:spPr>
          <a:xfrm>
            <a:off x="5432738" y="441713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/>
              <a:t>あたり</a:t>
            </a:r>
            <a:endParaRPr kumimoji="1" lang="en-US" altLang="ja-JP" sz="1200" b="1" dirty="0"/>
          </a:p>
          <a:p>
            <a:pPr algn="ctr"/>
            <a:r>
              <a:rPr kumimoji="1" lang="en-US" altLang="ja-JP" sz="1200" b="1" dirty="0"/>
              <a:t> 50</a:t>
            </a:r>
            <a:r>
              <a:rPr kumimoji="1" lang="ja-JP" altLang="en-US" sz="1200" b="1" dirty="0"/>
              <a:t>円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C8CD700-B13D-4161-A738-F3E083BCCAC9}"/>
              </a:ext>
            </a:extLst>
          </p:cNvPr>
          <p:cNvSpPr txBox="1"/>
          <p:nvPr/>
        </p:nvSpPr>
        <p:spPr>
          <a:xfrm>
            <a:off x="7370854" y="4491566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フィードバック１　</a:t>
            </a:r>
            <a:r>
              <a:rPr lang="en-US" altLang="ja-JP" dirty="0"/>
              <a:t>1</a:t>
            </a:r>
            <a:r>
              <a:rPr lang="ja-JP" altLang="en-US" dirty="0"/>
              <a:t>秒</a:t>
            </a:r>
            <a:endParaRPr kumimoji="1" lang="ja-JP" altLang="en-US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0D86C1F-D713-4388-BF5B-3858611537C2}"/>
              </a:ext>
            </a:extLst>
          </p:cNvPr>
          <p:cNvSpPr/>
          <p:nvPr/>
        </p:nvSpPr>
        <p:spPr>
          <a:xfrm>
            <a:off x="6642727" y="5305397"/>
            <a:ext cx="1972733" cy="127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/>
                </a:solidFill>
              </a:rPr>
              <a:t>現在の合計： </a:t>
            </a:r>
            <a:r>
              <a:rPr lang="en-US" altLang="ja-JP" sz="1400" b="1" dirty="0">
                <a:solidFill>
                  <a:schemeClr val="tx1"/>
                </a:solidFill>
              </a:rPr>
              <a:t>250</a:t>
            </a:r>
            <a:r>
              <a:rPr lang="ja-JP" altLang="en-US" sz="1400" b="1" dirty="0">
                <a:solidFill>
                  <a:schemeClr val="tx1"/>
                </a:solidFill>
              </a:rPr>
              <a:t>円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621B75A-B575-481E-BEE5-44942AC8DD40}"/>
              </a:ext>
            </a:extLst>
          </p:cNvPr>
          <p:cNvSpPr txBox="1"/>
          <p:nvPr/>
        </p:nvSpPr>
        <p:spPr>
          <a:xfrm>
            <a:off x="8691654" y="5339262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フィードバック２　</a:t>
            </a:r>
            <a:r>
              <a:rPr lang="en-US" altLang="ja-JP" dirty="0"/>
              <a:t>1</a:t>
            </a:r>
            <a:r>
              <a:rPr lang="ja-JP" altLang="en-US" dirty="0"/>
              <a:t>秒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F149E9-1580-40A8-BA24-E9474C57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018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A8594-E9F5-46EB-86F5-D938E2E4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新しい部分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D03264-BBE8-436F-A37F-8C8209BDC89E}"/>
              </a:ext>
            </a:extLst>
          </p:cNvPr>
          <p:cNvSpPr/>
          <p:nvPr/>
        </p:nvSpPr>
        <p:spPr>
          <a:xfrm>
            <a:off x="1151467" y="2159000"/>
            <a:ext cx="1972733" cy="127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＋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BE9C474-F058-4EBD-B71B-40A9A106743C}"/>
              </a:ext>
            </a:extLst>
          </p:cNvPr>
          <p:cNvGrpSpPr/>
          <p:nvPr/>
        </p:nvGrpSpPr>
        <p:grpSpPr>
          <a:xfrm>
            <a:off x="2523067" y="2794000"/>
            <a:ext cx="1972733" cy="1270000"/>
            <a:chOff x="2523067" y="2794000"/>
            <a:chExt cx="1972733" cy="12700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D5AB153-55BB-4B37-8241-55B380E51A60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9" name="図 8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296DF46C-05F0-4CFE-B20F-5EADD59A4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1" name="図 10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ED239777-69AA-43C6-9724-3F27C42AA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B9CBE6BA-CFC7-4A4E-A44C-4E37D7FC5378}"/>
              </a:ext>
            </a:extLst>
          </p:cNvPr>
          <p:cNvGrpSpPr/>
          <p:nvPr/>
        </p:nvGrpSpPr>
        <p:grpSpPr>
          <a:xfrm>
            <a:off x="3894667" y="3627967"/>
            <a:ext cx="1972733" cy="1270000"/>
            <a:chOff x="2523067" y="2794000"/>
            <a:chExt cx="1972733" cy="1270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CCE1A1E-9AB9-4317-B598-AEA5F71E8D6E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15" name="図 14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FC34DB2-BDF6-4C9C-BB79-2E492DDA6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6" name="図 15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4736306-6D42-4C6C-ADB3-0E6BD18FA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7FD0EFE-B35C-4A91-BC78-5104D50B5A35}"/>
              </a:ext>
            </a:extLst>
          </p:cNvPr>
          <p:cNvSpPr/>
          <p:nvPr/>
        </p:nvSpPr>
        <p:spPr>
          <a:xfrm>
            <a:off x="4097867" y="4445000"/>
            <a:ext cx="550333" cy="93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93EEC3-E23A-4B07-8D18-C598A3F3664A}"/>
              </a:ext>
            </a:extLst>
          </p:cNvPr>
          <p:cNvSpPr txBox="1"/>
          <p:nvPr/>
        </p:nvSpPr>
        <p:spPr>
          <a:xfrm>
            <a:off x="3124200" y="2116667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注視点　</a:t>
            </a:r>
            <a:r>
              <a:rPr kumimoji="1" lang="en-US" altLang="ja-JP" dirty="0"/>
              <a:t>0.5</a:t>
            </a:r>
            <a:r>
              <a:rPr kumimoji="1" lang="ja-JP" altLang="en-US" dirty="0"/>
              <a:t>秒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1F142B0-5C82-4769-8952-23A14487D932}"/>
              </a:ext>
            </a:extLst>
          </p:cNvPr>
          <p:cNvSpPr txBox="1"/>
          <p:nvPr/>
        </p:nvSpPr>
        <p:spPr>
          <a:xfrm>
            <a:off x="4495800" y="27653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選択画面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0EA4DEB-3F22-43F7-8473-CF661131DCC8}"/>
              </a:ext>
            </a:extLst>
          </p:cNvPr>
          <p:cNvSpPr txBox="1"/>
          <p:nvPr/>
        </p:nvSpPr>
        <p:spPr>
          <a:xfrm>
            <a:off x="5992598" y="3627967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ハイライト　</a:t>
            </a:r>
            <a:r>
              <a:rPr kumimoji="1" lang="en-US" altLang="ja-JP" dirty="0"/>
              <a:t>1</a:t>
            </a:r>
            <a:r>
              <a:rPr kumimoji="1" lang="ja-JP" altLang="en-US" dirty="0"/>
              <a:t>秒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F5B27C6-E063-4BB9-8EB1-FCC8AD8ABB71}"/>
              </a:ext>
            </a:extLst>
          </p:cNvPr>
          <p:cNvGrpSpPr/>
          <p:nvPr/>
        </p:nvGrpSpPr>
        <p:grpSpPr>
          <a:xfrm>
            <a:off x="5268697" y="4445000"/>
            <a:ext cx="1972733" cy="1270000"/>
            <a:chOff x="2523067" y="2794000"/>
            <a:chExt cx="1972733" cy="1270000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EA9FC85-2412-4DEC-84B4-99269A4724D2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23" name="図 22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575FF082-4CCB-433B-B5CA-BD4C644B9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24" name="図 23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5C61122E-D452-408D-88C7-50C62BAD6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4D90707-9BAD-41A8-B171-CBA2E3EDE059}"/>
              </a:ext>
            </a:extLst>
          </p:cNvPr>
          <p:cNvSpPr/>
          <p:nvPr/>
        </p:nvSpPr>
        <p:spPr>
          <a:xfrm>
            <a:off x="5490631" y="5270499"/>
            <a:ext cx="550333" cy="93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B46CE2-C91E-43B2-88DC-7C9A477FA241}"/>
              </a:ext>
            </a:extLst>
          </p:cNvPr>
          <p:cNvSpPr txBox="1"/>
          <p:nvPr/>
        </p:nvSpPr>
        <p:spPr>
          <a:xfrm>
            <a:off x="5432738" y="441713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/>
              <a:t>あたり</a:t>
            </a:r>
            <a:endParaRPr kumimoji="1" lang="en-US" altLang="ja-JP" sz="1200" b="1" dirty="0"/>
          </a:p>
          <a:p>
            <a:pPr algn="ctr"/>
            <a:r>
              <a:rPr kumimoji="1" lang="en-US" altLang="ja-JP" sz="1200" b="1" dirty="0"/>
              <a:t> 50</a:t>
            </a:r>
            <a:r>
              <a:rPr kumimoji="1" lang="ja-JP" altLang="en-US" sz="1200" b="1" dirty="0"/>
              <a:t>円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C8CD700-B13D-4161-A738-F3E083BCCAC9}"/>
              </a:ext>
            </a:extLst>
          </p:cNvPr>
          <p:cNvSpPr txBox="1"/>
          <p:nvPr/>
        </p:nvSpPr>
        <p:spPr>
          <a:xfrm>
            <a:off x="7370854" y="4491566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フィードバック１　</a:t>
            </a:r>
            <a:r>
              <a:rPr lang="en-US" altLang="ja-JP" dirty="0"/>
              <a:t>1</a:t>
            </a:r>
            <a:r>
              <a:rPr lang="ja-JP" altLang="en-US" dirty="0"/>
              <a:t>秒</a:t>
            </a:r>
            <a:endParaRPr kumimoji="1" lang="ja-JP" altLang="en-US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0D86C1F-D713-4388-BF5B-3858611537C2}"/>
              </a:ext>
            </a:extLst>
          </p:cNvPr>
          <p:cNvSpPr/>
          <p:nvPr/>
        </p:nvSpPr>
        <p:spPr>
          <a:xfrm>
            <a:off x="6642727" y="5305397"/>
            <a:ext cx="1972733" cy="127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/>
                </a:solidFill>
              </a:rPr>
              <a:t>現在の合計： </a:t>
            </a:r>
            <a:r>
              <a:rPr lang="en-US" altLang="ja-JP" sz="1400" b="1" dirty="0">
                <a:solidFill>
                  <a:schemeClr val="tx1"/>
                </a:solidFill>
              </a:rPr>
              <a:t>250</a:t>
            </a:r>
            <a:r>
              <a:rPr lang="ja-JP" altLang="en-US" sz="1400" b="1" dirty="0">
                <a:solidFill>
                  <a:schemeClr val="tx1"/>
                </a:solidFill>
              </a:rPr>
              <a:t>円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621B75A-B575-481E-BEE5-44942AC8DD40}"/>
              </a:ext>
            </a:extLst>
          </p:cNvPr>
          <p:cNvSpPr txBox="1"/>
          <p:nvPr/>
        </p:nvSpPr>
        <p:spPr>
          <a:xfrm>
            <a:off x="8691654" y="5339262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フィードバック２　</a:t>
            </a:r>
            <a:r>
              <a:rPr lang="en-US" altLang="ja-JP" dirty="0"/>
              <a:t>1</a:t>
            </a:r>
            <a:r>
              <a:rPr lang="ja-JP" altLang="en-US" dirty="0"/>
              <a:t>秒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F149E9-1580-40A8-BA24-E9474C57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07D876B-92C9-4B75-9E00-4AEDC7C580FF}"/>
              </a:ext>
            </a:extLst>
          </p:cNvPr>
          <p:cNvSpPr/>
          <p:nvPr/>
        </p:nvSpPr>
        <p:spPr>
          <a:xfrm>
            <a:off x="5268697" y="188294"/>
            <a:ext cx="6731895" cy="26226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追加の設定</a:t>
            </a:r>
            <a:endParaRPr lang="en-US" altLang="ja-JP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２つの刺激の左右どちらに提示されるかはランダム。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u="sng" dirty="0"/>
              <a:t>一方の画像（</a:t>
            </a:r>
            <a:r>
              <a:rPr lang="en-US" altLang="ja-JP" sz="2000" u="sng" dirty="0"/>
              <a:t>e.g., </a:t>
            </a:r>
            <a:r>
              <a:rPr lang="ja-JP" altLang="en-US" sz="2000" u="sng" dirty="0"/>
              <a:t>ピンクの画像）は，</a:t>
            </a:r>
            <a:r>
              <a:rPr lang="en-US" altLang="ja-JP" sz="2000" u="sng" dirty="0"/>
              <a:t>40%</a:t>
            </a:r>
            <a:r>
              <a:rPr lang="ja-JP" altLang="en-US" sz="2000" u="sng" dirty="0"/>
              <a:t>の確率で</a:t>
            </a:r>
            <a:r>
              <a:rPr lang="en-US" altLang="ja-JP" sz="2000" u="sng" dirty="0"/>
              <a:t>50</a:t>
            </a:r>
            <a:r>
              <a:rPr lang="ja-JP" altLang="en-US" sz="2000" u="sng" dirty="0"/>
              <a:t>円，</a:t>
            </a:r>
            <a:r>
              <a:rPr lang="en-US" altLang="ja-JP" sz="2000" u="sng" dirty="0"/>
              <a:t>60%</a:t>
            </a:r>
            <a:r>
              <a:rPr lang="ja-JP" altLang="en-US" sz="2000" u="sng" dirty="0"/>
              <a:t>の確率で</a:t>
            </a:r>
            <a:r>
              <a:rPr lang="en-US" altLang="ja-JP" sz="2000" u="sng" dirty="0"/>
              <a:t>0</a:t>
            </a:r>
            <a:r>
              <a:rPr lang="ja-JP" altLang="en-US" sz="2000" u="sng" dirty="0"/>
              <a:t>円</a:t>
            </a:r>
            <a:r>
              <a:rPr lang="ja-JP" altLang="en-US" sz="2000" dirty="0"/>
              <a:t>。</a:t>
            </a:r>
            <a:r>
              <a:rPr lang="ja-JP" altLang="en-US" sz="2000" u="sng" dirty="0"/>
              <a:t>もう一方の画像（</a:t>
            </a:r>
            <a:r>
              <a:rPr lang="en-US" altLang="ja-JP" sz="2000" u="sng" dirty="0"/>
              <a:t>e.g., </a:t>
            </a:r>
            <a:r>
              <a:rPr lang="ja-JP" altLang="en-US" sz="2000" u="sng" dirty="0"/>
              <a:t>紫の画像）は，</a:t>
            </a:r>
            <a:r>
              <a:rPr lang="en-US" altLang="ja-JP" sz="2000" u="sng" dirty="0"/>
              <a:t>80%</a:t>
            </a:r>
            <a:r>
              <a:rPr lang="ja-JP" altLang="en-US" sz="2000" u="sng" dirty="0"/>
              <a:t>の確率で</a:t>
            </a:r>
            <a:r>
              <a:rPr lang="en-US" altLang="ja-JP" sz="2000" u="sng" dirty="0"/>
              <a:t>30</a:t>
            </a:r>
            <a:r>
              <a:rPr lang="ja-JP" altLang="en-US" sz="2000" u="sng" dirty="0"/>
              <a:t>円，</a:t>
            </a:r>
            <a:r>
              <a:rPr lang="en-US" altLang="ja-JP" sz="2000" u="sng" dirty="0"/>
              <a:t>20%</a:t>
            </a:r>
            <a:r>
              <a:rPr lang="ja-JP" altLang="en-US" sz="2000" u="sng" dirty="0"/>
              <a:t>の確率で</a:t>
            </a:r>
            <a:r>
              <a:rPr lang="en-US" altLang="ja-JP" sz="2000" u="sng" dirty="0"/>
              <a:t>0</a:t>
            </a:r>
            <a:r>
              <a:rPr lang="ja-JP" altLang="en-US" sz="2000" u="sng" dirty="0"/>
              <a:t>円</a:t>
            </a:r>
            <a:r>
              <a:rPr lang="ja-JP" altLang="en-US" sz="2000" dirty="0"/>
              <a:t>。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各試行の最後に，</a:t>
            </a:r>
            <a:r>
              <a:rPr lang="ja-JP" altLang="en-US" sz="2000" b="1" dirty="0"/>
              <a:t>現在の合計</a:t>
            </a:r>
            <a:r>
              <a:rPr lang="ja-JP" altLang="en-US" sz="2000" dirty="0"/>
              <a:t>が提示される。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1</a:t>
            </a:r>
            <a:r>
              <a:rPr kumimoji="1" lang="ja-JP" altLang="en-US" sz="2000" dirty="0"/>
              <a:t>ブロック</a:t>
            </a:r>
            <a:r>
              <a:rPr kumimoji="1" lang="en-US" altLang="ja-JP" sz="2000" dirty="0"/>
              <a:t>20</a:t>
            </a:r>
            <a:r>
              <a:rPr kumimoji="1" lang="ja-JP" altLang="en-US" sz="2000" dirty="0"/>
              <a:t>試行を２ブロック行う。</a:t>
            </a:r>
            <a:endParaRPr kumimoji="1"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ブロックが変わると画像が新しくなる。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88188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68978-9864-4433-A347-298DB99D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必要な変数を作る（１ブロック分のみ）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289AD0-6DB7-4DFF-9670-EFB8B9EE8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/>
          </a:bodyPr>
          <a:lstStyle/>
          <a:p>
            <a:r>
              <a:rPr lang="en-US" altLang="ja-JP" b="1" dirty="0"/>
              <a:t>setting.xlsx</a:t>
            </a:r>
            <a:r>
              <a:rPr lang="ja-JP" altLang="en-US" dirty="0"/>
              <a:t>　という名前で下記のファイルを作成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ここでは，</a:t>
            </a:r>
            <a:r>
              <a:rPr lang="en-US" altLang="ja-JP" dirty="0"/>
              <a:t>feed1</a:t>
            </a:r>
            <a:r>
              <a:rPr lang="ja-JP" altLang="en-US" dirty="0"/>
              <a:t>は刺激</a:t>
            </a:r>
            <a:r>
              <a:rPr lang="en-US" altLang="ja-JP" dirty="0"/>
              <a:t>A</a:t>
            </a:r>
            <a:r>
              <a:rPr lang="ja-JP" altLang="en-US" dirty="0"/>
              <a:t>のフィードバック，</a:t>
            </a:r>
            <a:r>
              <a:rPr lang="en-US" altLang="ja-JP" dirty="0"/>
              <a:t>feed2</a:t>
            </a:r>
            <a:r>
              <a:rPr lang="ja-JP" altLang="en-US" dirty="0"/>
              <a:t>は刺激</a:t>
            </a:r>
            <a:r>
              <a:rPr lang="en-US" altLang="ja-JP" dirty="0"/>
              <a:t>B</a:t>
            </a:r>
            <a:r>
              <a:rPr lang="ja-JP" altLang="en-US" dirty="0"/>
              <a:t>のフィードバックとします。</a:t>
            </a:r>
            <a:endParaRPr lang="en-US" altLang="ja-JP" dirty="0"/>
          </a:p>
          <a:p>
            <a:r>
              <a:rPr kumimoji="1" lang="en-US" altLang="ja-JP" dirty="0"/>
              <a:t>1</a:t>
            </a:r>
            <a:r>
              <a:rPr kumimoji="1" lang="ja-JP" altLang="en-US" dirty="0"/>
              <a:t>だとあたり，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だとはずれ。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作成したら，改めて，自身のプログラムに読み込んでください。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8E02070-D9CD-4E0D-A316-4D8DB62AF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831" y="2294995"/>
            <a:ext cx="4360093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CFFEF0-3F20-48BD-8562-F76E6013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B66C2F-8A76-417D-9000-244221BFAD32}"/>
              </a:ext>
            </a:extLst>
          </p:cNvPr>
          <p:cNvSpPr/>
          <p:nvPr/>
        </p:nvSpPr>
        <p:spPr>
          <a:xfrm>
            <a:off x="6533798" y="1257830"/>
            <a:ext cx="4740157" cy="10006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accent2">
                    <a:lumMod val="75000"/>
                  </a:schemeClr>
                </a:solidFill>
              </a:rPr>
              <a:t>エクセルを更新した後は，必ず</a:t>
            </a:r>
            <a:r>
              <a:rPr lang="en-US" altLang="ja-JP" sz="2400" b="1" dirty="0">
                <a:solidFill>
                  <a:schemeClr val="accent2">
                    <a:lumMod val="75000"/>
                  </a:schemeClr>
                </a:solidFill>
              </a:rPr>
              <a:t>PsychoPy</a:t>
            </a:r>
            <a:r>
              <a:rPr lang="ja-JP" altLang="en-US" sz="2400" b="1" dirty="0">
                <a:solidFill>
                  <a:schemeClr val="accent2">
                    <a:lumMod val="75000"/>
                  </a:schemeClr>
                </a:solidFill>
              </a:rPr>
              <a:t>に再読み込み！</a:t>
            </a:r>
            <a:endParaRPr kumimoji="1" lang="ja-JP" alt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458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CA076-2993-4C69-94C7-F133C08E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Feedback</a:t>
            </a:r>
            <a:r>
              <a:rPr lang="ja-JP" altLang="en-US" dirty="0"/>
              <a:t>に関する変数を設定する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153237-A65F-4263-A3D0-448DF949A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00" y="2215092"/>
            <a:ext cx="7264400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下記の変数を設定</a:t>
            </a:r>
            <a:endParaRPr lang="en-US" altLang="ja-JP" dirty="0"/>
          </a:p>
          <a:p>
            <a:r>
              <a:rPr lang="en-US" altLang="ja-JP" b="1" dirty="0"/>
              <a:t>posi2</a:t>
            </a:r>
            <a:r>
              <a:rPr lang="en-US" altLang="ja-JP" dirty="0"/>
              <a:t>: </a:t>
            </a:r>
            <a:r>
              <a:rPr lang="ja-JP" altLang="en-US" dirty="0"/>
              <a:t>あたり，はずれを提示する位置</a:t>
            </a:r>
            <a:endParaRPr lang="en-US" altLang="ja-JP" dirty="0"/>
          </a:p>
          <a:p>
            <a:r>
              <a:rPr lang="en-US" altLang="ja-JP" b="1" dirty="0"/>
              <a:t>posi3</a:t>
            </a:r>
            <a:r>
              <a:rPr lang="en-US" altLang="ja-JP" dirty="0"/>
              <a:t>: </a:t>
            </a:r>
            <a:r>
              <a:rPr lang="ja-JP" altLang="en-US" dirty="0"/>
              <a:t>点数を提示する位置</a:t>
            </a:r>
            <a:endParaRPr lang="en-US" altLang="ja-JP" dirty="0"/>
          </a:p>
          <a:p>
            <a:r>
              <a:rPr lang="en-US" altLang="ja-JP" b="1" dirty="0"/>
              <a:t>feedback</a:t>
            </a:r>
            <a:r>
              <a:rPr lang="en-US" altLang="ja-JP" dirty="0"/>
              <a:t>: </a:t>
            </a:r>
            <a:r>
              <a:rPr lang="ja-JP" altLang="en-US" dirty="0"/>
              <a:t>得点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（</a:t>
            </a:r>
            <a:r>
              <a:rPr lang="en-US" altLang="ja-JP" dirty="0"/>
              <a:t>feed1</a:t>
            </a:r>
            <a:r>
              <a:rPr lang="ja-JP" altLang="en-US" dirty="0"/>
              <a:t>であれば，</a:t>
            </a:r>
            <a:r>
              <a:rPr lang="en-US" altLang="ja-JP" dirty="0"/>
              <a:t>feed1×5</a:t>
            </a:r>
            <a:r>
              <a:rPr lang="ja-JP" altLang="en-US" dirty="0"/>
              <a:t>０，</a:t>
            </a:r>
            <a:r>
              <a:rPr lang="en-US" altLang="ja-JP" dirty="0"/>
              <a:t>feed2</a:t>
            </a:r>
            <a:r>
              <a:rPr lang="ja-JP" altLang="en-US" dirty="0"/>
              <a:t>であれば</a:t>
            </a:r>
            <a:r>
              <a:rPr lang="en-US" altLang="ja-JP" dirty="0"/>
              <a:t>feed2×30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en-US" altLang="ja-JP" b="1" dirty="0" err="1"/>
              <a:t>feedbackletter</a:t>
            </a:r>
            <a:r>
              <a:rPr lang="en-US" altLang="ja-JP" dirty="0"/>
              <a:t>: </a:t>
            </a:r>
            <a:r>
              <a:rPr lang="ja-JP" altLang="en-US" dirty="0"/>
              <a:t>あたり，はずれの文字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A66EBE8-9188-4466-9E92-DB243E19C9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824"/>
          <a:stretch/>
        </p:blipFill>
        <p:spPr>
          <a:xfrm>
            <a:off x="104245" y="1673236"/>
            <a:ext cx="3612622" cy="5118618"/>
          </a:xfrm>
          <a:prstGeom prst="rect">
            <a:avLst/>
          </a:prstGeom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78D57E5F-ABE2-4E5E-9243-4A8DAB2D30A2}"/>
              </a:ext>
            </a:extLst>
          </p:cNvPr>
          <p:cNvSpPr/>
          <p:nvPr/>
        </p:nvSpPr>
        <p:spPr>
          <a:xfrm>
            <a:off x="104245" y="1825625"/>
            <a:ext cx="1397000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AAB96BA-C9AB-41F5-8961-48BD80D3C7D4}"/>
              </a:ext>
            </a:extLst>
          </p:cNvPr>
          <p:cNvSpPr/>
          <p:nvPr/>
        </p:nvSpPr>
        <p:spPr>
          <a:xfrm>
            <a:off x="1365779" y="6084358"/>
            <a:ext cx="2232554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6D84394D-1895-485E-9322-C2684258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56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CA076-2993-4C69-94C7-F133C08E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Feedback</a:t>
            </a:r>
            <a:r>
              <a:rPr kumimoji="1" lang="ja-JP" altLang="en-US" dirty="0"/>
              <a:t>に関する変数を設定する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153237-A65F-4263-A3D0-448DF949A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63A2F09-253B-42AD-AF0E-FF1AF2579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5" y="1673236"/>
            <a:ext cx="9463088" cy="5118618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74EA06F2-1DE6-4D8A-B80C-5E99898381A1}"/>
              </a:ext>
            </a:extLst>
          </p:cNvPr>
          <p:cNvSpPr/>
          <p:nvPr/>
        </p:nvSpPr>
        <p:spPr>
          <a:xfrm>
            <a:off x="104245" y="1825625"/>
            <a:ext cx="1397000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7D5FE030-C745-44C7-8186-F276C2189567}"/>
              </a:ext>
            </a:extLst>
          </p:cNvPr>
          <p:cNvSpPr/>
          <p:nvPr/>
        </p:nvSpPr>
        <p:spPr>
          <a:xfrm>
            <a:off x="1365779" y="6084358"/>
            <a:ext cx="2232554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78380BC3-5BB2-4E79-9258-7C450DD194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89"/>
          <a:stretch/>
        </p:blipFill>
        <p:spPr>
          <a:xfrm>
            <a:off x="3668182" y="1543843"/>
            <a:ext cx="6691011" cy="51173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楕円 7">
            <a:extLst>
              <a:ext uri="{FF2B5EF4-FFF2-40B4-BE49-F238E27FC236}">
                <a16:creationId xmlns:a16="http://schemas.microsoft.com/office/drawing/2014/main" id="{18938A84-5636-4E03-A78E-512FCCB7CD65}"/>
              </a:ext>
            </a:extLst>
          </p:cNvPr>
          <p:cNvSpPr/>
          <p:nvPr/>
        </p:nvSpPr>
        <p:spPr>
          <a:xfrm>
            <a:off x="7436377" y="1413227"/>
            <a:ext cx="1851556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0604C682-149A-4EDB-A6EF-2AC85CAC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8321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4C513E-3A7B-4A11-9030-33A5D231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highlight>
                  <a:srgbClr val="00FF00"/>
                </a:highlight>
              </a:rPr>
              <a:t>o</a:t>
            </a:r>
            <a:r>
              <a:rPr kumimoji="1" lang="en-US" altLang="ja-JP" dirty="0">
                <a:highlight>
                  <a:srgbClr val="00FF00"/>
                </a:highlight>
              </a:rPr>
              <a:t>utcome</a:t>
            </a:r>
            <a:r>
              <a:rPr kumimoji="1" lang="en-US" altLang="ja-JP" dirty="0"/>
              <a:t>: </a:t>
            </a:r>
            <a:r>
              <a:rPr lang="en-US" altLang="ja-JP" dirty="0"/>
              <a:t>Feedback</a:t>
            </a:r>
            <a:r>
              <a:rPr lang="ja-JP" altLang="en-US" dirty="0"/>
              <a:t>の</a:t>
            </a:r>
            <a:r>
              <a:rPr lang="ja-JP" altLang="en-US" b="1" dirty="0"/>
              <a:t>文字</a:t>
            </a:r>
            <a:r>
              <a:rPr lang="ja-JP" altLang="en-US" dirty="0"/>
              <a:t>を表示する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C4C307-0CF8-4A74-BA02-5F2DE26FA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2477" y="2141537"/>
            <a:ext cx="3310256" cy="435133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新しく「</a:t>
            </a:r>
            <a:r>
              <a:rPr kumimoji="1" lang="en-US" altLang="ja-JP" dirty="0"/>
              <a:t>outcome</a:t>
            </a:r>
            <a:r>
              <a:rPr kumimoji="1" lang="ja-JP" altLang="en-US" dirty="0"/>
              <a:t>」というルーティーンを作成しましょう。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「</a:t>
            </a:r>
            <a:r>
              <a:rPr lang="en-US" altLang="ja-JP" dirty="0"/>
              <a:t>highlight</a:t>
            </a:r>
            <a:r>
              <a:rPr lang="ja-JP" altLang="en-US" dirty="0"/>
              <a:t>」をコピーして貼り付けると便利です。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93E92CF-5B6C-4FFF-A9D1-220218F3C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1376988"/>
            <a:ext cx="8009677" cy="5379412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7DE4C4B9-9D6B-4E38-80DC-D41097CD417F}"/>
              </a:ext>
            </a:extLst>
          </p:cNvPr>
          <p:cNvSpPr/>
          <p:nvPr/>
        </p:nvSpPr>
        <p:spPr>
          <a:xfrm>
            <a:off x="626533" y="5011446"/>
            <a:ext cx="2232554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A142692-897E-4373-AA9D-B8A7FA84CFF8}"/>
              </a:ext>
            </a:extLst>
          </p:cNvPr>
          <p:cNvSpPr/>
          <p:nvPr/>
        </p:nvSpPr>
        <p:spPr>
          <a:xfrm>
            <a:off x="2284677" y="2398475"/>
            <a:ext cx="1148820" cy="30407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37F8DD43-9C10-4A48-A4FF-45526CBABF6F}"/>
              </a:ext>
            </a:extLst>
          </p:cNvPr>
          <p:cNvSpPr txBox="1">
            <a:spLocks/>
          </p:cNvSpPr>
          <p:nvPr/>
        </p:nvSpPr>
        <p:spPr>
          <a:xfrm>
            <a:off x="4453466" y="5632689"/>
            <a:ext cx="4369011" cy="7681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「位置」は元々</a:t>
            </a:r>
            <a:r>
              <a:rPr lang="en-US" altLang="ja-JP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</a:t>
            </a:r>
            <a:r>
              <a:rPr lang="ja-JP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がついているが，「文字列」は</a:t>
            </a:r>
            <a:r>
              <a:rPr lang="en-US" altLang="ja-JP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</a:t>
            </a:r>
            <a:r>
              <a:rPr lang="ja-JP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が必要。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FD259C8-06B5-4E21-AD66-CEF6D99B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2334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35E52-2C0C-4FFA-B869-A8AE4CD9F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highlight>
                  <a:srgbClr val="00FF00"/>
                </a:highlight>
              </a:rPr>
              <a:t>outcome</a:t>
            </a:r>
            <a:r>
              <a:rPr lang="en-US" altLang="ja-JP" dirty="0"/>
              <a:t>: Feedback</a:t>
            </a:r>
            <a:r>
              <a:rPr lang="ja-JP" altLang="en-US" dirty="0"/>
              <a:t>の</a:t>
            </a:r>
            <a:r>
              <a:rPr lang="ja-JP" altLang="en-US" b="1" dirty="0"/>
              <a:t>得点</a:t>
            </a:r>
            <a:r>
              <a:rPr lang="ja-JP" altLang="en-US" dirty="0"/>
              <a:t>を表示する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60782B-A198-404D-8ADF-57DF4FF36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94BC31B-0735-4553-8904-5B3E9FA9E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" y="1331651"/>
            <a:ext cx="8053549" cy="5526349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D032EFF9-D611-4886-ABC5-32F570F6296C}"/>
              </a:ext>
            </a:extLst>
          </p:cNvPr>
          <p:cNvSpPr/>
          <p:nvPr/>
        </p:nvSpPr>
        <p:spPr>
          <a:xfrm>
            <a:off x="626533" y="5690658"/>
            <a:ext cx="2232554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5A7F5763-F92B-4E4F-9ECA-1AA7FF6B3048}"/>
              </a:ext>
            </a:extLst>
          </p:cNvPr>
          <p:cNvSpPr/>
          <p:nvPr/>
        </p:nvSpPr>
        <p:spPr>
          <a:xfrm>
            <a:off x="2284677" y="2398475"/>
            <a:ext cx="1148820" cy="30407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DA5214-04FB-43BE-8178-808CBA421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845" y="5906294"/>
            <a:ext cx="638175" cy="676275"/>
          </a:xfrm>
          <a:prstGeom prst="rect">
            <a:avLst/>
          </a:prstGeom>
        </p:spPr>
      </p:pic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93C3BEBF-9FE1-4F75-B06D-F51D5667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193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38D1B4-F0CE-4942-B222-8AB3B1F2B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合計金額に関する変数を設定する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FE991F-BA63-42EB-B5B8-E57C7DB51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7DC3518-2121-4CAB-B258-9F9455699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92" y="2016125"/>
            <a:ext cx="8210550" cy="447675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A455732-FC66-4480-9123-2C4C34EEA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542" y="1254546"/>
            <a:ext cx="5263599" cy="5603454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CC31D437-D148-41E2-8FED-74EC2C97B970}"/>
              </a:ext>
            </a:extLst>
          </p:cNvPr>
          <p:cNvSpPr/>
          <p:nvPr/>
        </p:nvSpPr>
        <p:spPr>
          <a:xfrm>
            <a:off x="78845" y="2230967"/>
            <a:ext cx="1165755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80F839AD-4EF3-4013-A6BA-3CD310AAB3AC}"/>
              </a:ext>
            </a:extLst>
          </p:cNvPr>
          <p:cNvSpPr/>
          <p:nvPr/>
        </p:nvSpPr>
        <p:spPr>
          <a:xfrm>
            <a:off x="1100667" y="5770563"/>
            <a:ext cx="1923543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27E81D6-4188-4BAE-A684-215DF00AE0F7}"/>
              </a:ext>
            </a:extLst>
          </p:cNvPr>
          <p:cNvSpPr/>
          <p:nvPr/>
        </p:nvSpPr>
        <p:spPr>
          <a:xfrm>
            <a:off x="3513667" y="3429000"/>
            <a:ext cx="1430867" cy="31326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8CD2ED31-FE5B-4DD8-8C3B-9F37FA2C647D}"/>
              </a:ext>
            </a:extLst>
          </p:cNvPr>
          <p:cNvSpPr/>
          <p:nvPr/>
        </p:nvSpPr>
        <p:spPr>
          <a:xfrm>
            <a:off x="8574089" y="2384954"/>
            <a:ext cx="1430867" cy="31326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3796429-5070-4993-A7DC-FF093880B3C1}"/>
              </a:ext>
            </a:extLst>
          </p:cNvPr>
          <p:cNvSpPr txBox="1"/>
          <p:nvPr/>
        </p:nvSpPr>
        <p:spPr>
          <a:xfrm>
            <a:off x="3968946" y="4005527"/>
            <a:ext cx="1917513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↑</a:t>
            </a:r>
            <a:endParaRPr kumimoji="1" lang="en-US" altLang="ja-JP" dirty="0"/>
          </a:p>
          <a:p>
            <a:r>
              <a:rPr lang="ja-JP" altLang="en-US" dirty="0"/>
              <a:t>初期値 </a:t>
            </a:r>
            <a:r>
              <a:rPr lang="en-US" altLang="ja-JP" dirty="0"/>
              <a:t>0</a:t>
            </a:r>
            <a:r>
              <a:rPr lang="ja-JP" altLang="en-US" dirty="0"/>
              <a:t> の</a:t>
            </a:r>
            <a:endParaRPr lang="en-US" altLang="ja-JP" dirty="0"/>
          </a:p>
          <a:p>
            <a:r>
              <a:rPr lang="en-US" altLang="ja-JP" b="1" dirty="0"/>
              <a:t>t</a:t>
            </a:r>
            <a:r>
              <a:rPr kumimoji="1" lang="en-US" altLang="ja-JP" b="1" dirty="0"/>
              <a:t>otal </a:t>
            </a:r>
            <a:r>
              <a:rPr kumimoji="1" lang="ja-JP" altLang="en-US" dirty="0"/>
              <a:t>という変数</a:t>
            </a:r>
            <a:endParaRPr kumimoji="1" lang="en-US" altLang="ja-JP" dirty="0"/>
          </a:p>
          <a:p>
            <a:r>
              <a:rPr lang="ja-JP" altLang="en-US" dirty="0"/>
              <a:t>をつくる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BD25403-C462-4C7D-BAAA-A80668D6C85B}"/>
              </a:ext>
            </a:extLst>
          </p:cNvPr>
          <p:cNvSpPr txBox="1"/>
          <p:nvPr/>
        </p:nvSpPr>
        <p:spPr>
          <a:xfrm>
            <a:off x="8784396" y="6311900"/>
            <a:ext cx="287610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← </a:t>
            </a:r>
            <a:r>
              <a:rPr kumimoji="1" lang="en-US" altLang="ja-JP" dirty="0"/>
              <a:t>total </a:t>
            </a:r>
            <a:r>
              <a:rPr kumimoji="1" lang="ja-JP" altLang="en-US" dirty="0"/>
              <a:t>の値を更新する式</a:t>
            </a:r>
          </a:p>
        </p:txBody>
      </p:sp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F19132D6-D19C-4B4C-BE60-B9B72975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321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45DDC4-E2EE-4A28-B64E-2B4238530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highlight>
                  <a:srgbClr val="00FF00"/>
                </a:highlight>
              </a:rPr>
              <a:t>outcome2</a:t>
            </a:r>
            <a:r>
              <a:rPr lang="en-US" altLang="ja-JP" dirty="0"/>
              <a:t> : </a:t>
            </a:r>
            <a:r>
              <a:rPr lang="ja-JP" altLang="en-US" b="1" dirty="0"/>
              <a:t>合計得点</a:t>
            </a:r>
            <a:r>
              <a:rPr lang="ja-JP" altLang="en-US" dirty="0"/>
              <a:t>を表示する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D4E236-D40A-41B9-AEFE-E4E1D6AD1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444F8C3-0FE8-4A83-A81C-E4EA83B5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1467444"/>
            <a:ext cx="7344304" cy="5299539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3EFEB3E6-FA49-497A-8013-A37AA6FF5BAA}"/>
              </a:ext>
            </a:extLst>
          </p:cNvPr>
          <p:cNvSpPr/>
          <p:nvPr/>
        </p:nvSpPr>
        <p:spPr>
          <a:xfrm>
            <a:off x="1475845" y="2392892"/>
            <a:ext cx="1165755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C3A41BB6-3514-40B9-8170-6791CE89E76D}"/>
              </a:ext>
            </a:extLst>
          </p:cNvPr>
          <p:cNvSpPr/>
          <p:nvPr/>
        </p:nvSpPr>
        <p:spPr>
          <a:xfrm>
            <a:off x="747712" y="3533246"/>
            <a:ext cx="1165755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BDAE4BC9-5A3A-47AD-8640-527038B7EF07}"/>
              </a:ext>
            </a:extLst>
          </p:cNvPr>
          <p:cNvSpPr/>
          <p:nvPr/>
        </p:nvSpPr>
        <p:spPr>
          <a:xfrm>
            <a:off x="6866467" y="2703513"/>
            <a:ext cx="4682067" cy="1800754"/>
          </a:xfrm>
          <a:prstGeom prst="wedgeRoundRectCallout">
            <a:avLst>
              <a:gd name="adj1" fmla="val -67169"/>
              <a:gd name="adj2" fmla="val 92591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b="1" dirty="0"/>
              <a:t>毎回更新するので 冒頭に </a:t>
            </a:r>
            <a:r>
              <a:rPr kumimoji="1" lang="en-US" altLang="ja-JP" b="1" dirty="0">
                <a:solidFill>
                  <a:srgbClr val="FF0000"/>
                </a:solidFill>
              </a:rPr>
              <a:t>$</a:t>
            </a:r>
            <a:r>
              <a:rPr kumimoji="1" lang="en-US" altLang="ja-JP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文字は </a:t>
            </a:r>
            <a:r>
              <a:rPr lang="en-US" altLang="ja-JP" b="1" dirty="0">
                <a:solidFill>
                  <a:srgbClr val="FF0000"/>
                </a:solidFill>
              </a:rPr>
              <a:t>‘ ‘ </a:t>
            </a:r>
            <a:r>
              <a:rPr lang="ja-JP" altLang="en-US" dirty="0"/>
              <a:t>で囲む。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変数は </a:t>
            </a:r>
            <a:r>
              <a:rPr lang="en-US" altLang="ja-JP" b="1" dirty="0">
                <a:solidFill>
                  <a:srgbClr val="FF0000"/>
                </a:solidFill>
              </a:rPr>
              <a:t>str() </a:t>
            </a:r>
            <a:r>
              <a:rPr lang="ja-JP" altLang="en-US" dirty="0"/>
              <a:t>で文字列として取り出す。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これらを </a:t>
            </a:r>
            <a:r>
              <a:rPr lang="en-US" altLang="ja-JP" b="1" dirty="0">
                <a:solidFill>
                  <a:srgbClr val="FF0000"/>
                </a:solidFill>
              </a:rPr>
              <a:t>+</a:t>
            </a:r>
            <a:r>
              <a:rPr lang="ja-JP" altLang="en-US" dirty="0"/>
              <a:t> でつなぐ。</a:t>
            </a:r>
            <a:r>
              <a:rPr lang="en-US" altLang="ja-JP" dirty="0"/>
              <a:t> 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223B43E-97B7-47EC-9E6D-CAC644362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445" y="5850467"/>
            <a:ext cx="638175" cy="676275"/>
          </a:xfrm>
          <a:prstGeom prst="rect">
            <a:avLst/>
          </a:prstGeom>
        </p:spPr>
      </p:pic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FAC9FDC-3903-43B7-BABC-D4A2B573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28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74F8CC-2547-4E71-B3F1-DD86BB6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20</a:t>
            </a:r>
            <a:r>
              <a:rPr kumimoji="1" lang="ja-JP" altLang="en-US" dirty="0"/>
              <a:t>試行にし，試行をランダムにする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4DFC78-610F-46D0-9BBD-FC6B49F1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E5AA4AC-1B73-4724-96C6-CE807D4C2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5" y="1500355"/>
            <a:ext cx="7005456" cy="5221120"/>
          </a:xfrm>
          <a:prstGeom prst="rect">
            <a:avLst/>
          </a:prstGeom>
        </p:spPr>
      </p:pic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7A6021EA-2DF6-43FA-A84D-6E96794F91C1}"/>
              </a:ext>
            </a:extLst>
          </p:cNvPr>
          <p:cNvSpPr txBox="1">
            <a:spLocks/>
          </p:cNvSpPr>
          <p:nvPr/>
        </p:nvSpPr>
        <p:spPr>
          <a:xfrm>
            <a:off x="3073399" y="3160422"/>
            <a:ext cx="8923866" cy="7681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b="1" dirty="0"/>
              <a:t>←① </a:t>
            </a:r>
            <a:r>
              <a:rPr lang="ja-JP" altLang="en-US" sz="2400" dirty="0"/>
              <a:t>ここで指定した回数だけ，エクセルで指定した</a:t>
            </a:r>
            <a:r>
              <a:rPr lang="en-US" altLang="ja-JP" sz="2400" dirty="0"/>
              <a:t>10</a:t>
            </a:r>
            <a:r>
              <a:rPr lang="ja-JP" altLang="en-US" sz="2400" dirty="0"/>
              <a:t>条件が繰り返される。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ここを変更したら一度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CF36150-6580-4BEA-906B-F698E0834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44" y="3479799"/>
            <a:ext cx="391494" cy="414867"/>
          </a:xfrm>
          <a:prstGeom prst="rect">
            <a:avLst/>
          </a:prstGeo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EB3A087E-4AE2-4131-8E65-525D0797520E}"/>
              </a:ext>
            </a:extLst>
          </p:cNvPr>
          <p:cNvSpPr txBox="1">
            <a:spLocks/>
          </p:cNvSpPr>
          <p:nvPr/>
        </p:nvSpPr>
        <p:spPr>
          <a:xfrm>
            <a:off x="4148667" y="2319046"/>
            <a:ext cx="7848598" cy="7681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b="1" dirty="0"/>
              <a:t>←② </a:t>
            </a:r>
            <a:r>
              <a:rPr lang="ja-JP" altLang="en-US" sz="2400" dirty="0"/>
              <a:t>課題がちゃんと意図通りに動いていることを確認したら，ここを </a:t>
            </a:r>
            <a:r>
              <a:rPr lang="en-US" altLang="ja-JP" sz="2400" dirty="0"/>
              <a:t>random </a:t>
            </a:r>
            <a:r>
              <a:rPr lang="ja-JP" altLang="en-US" sz="2400" dirty="0"/>
              <a:t>にして完成！</a:t>
            </a:r>
            <a:endParaRPr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0684BF5-749C-4E9D-91E2-7C98081E8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186" y="4005961"/>
            <a:ext cx="4261084" cy="2008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9714B0E1-4D78-41EF-A575-6214E15C2022}"/>
              </a:ext>
            </a:extLst>
          </p:cNvPr>
          <p:cNvSpPr txBox="1">
            <a:spLocks/>
          </p:cNvSpPr>
          <p:nvPr/>
        </p:nvSpPr>
        <p:spPr>
          <a:xfrm>
            <a:off x="7535332" y="5707351"/>
            <a:ext cx="4588933" cy="76811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試行順は色々指定できるので，課題によって使い分けましょう。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875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010573-1BC9-464A-9408-06EEEFB63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Tips: </a:t>
            </a:r>
            <a:r>
              <a:rPr kumimoji="1" lang="ja-JP" altLang="en-US" b="1" dirty="0"/>
              <a:t>エクセルの参照</a:t>
            </a:r>
            <a:r>
              <a:rPr lang="ja-JP" altLang="en-US" b="1" dirty="0"/>
              <a:t>行を指定する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0CC4D9-8C85-4BA2-AC06-0889E21C5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例えば，似たような試行を２ブロックする場合，ブロック毎にエクセルの「</a:t>
            </a:r>
            <a:r>
              <a:rPr kumimoji="1" lang="ja-JP" altLang="en-US" b="1" dirty="0"/>
              <a:t>使用する行</a:t>
            </a:r>
            <a:r>
              <a:rPr kumimoji="1" lang="ja-JP" altLang="en-US" dirty="0"/>
              <a:t>」を変更することができます。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04B529-CE96-4920-AF76-1E6422B1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0D47464-BA04-488E-99CC-3FD7997D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04" y="2774197"/>
            <a:ext cx="5017796" cy="394462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12F9263-C463-40E8-ABE6-9474124CD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41576"/>
            <a:ext cx="4010263" cy="384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07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D0F334-1FEE-4F06-9A05-08AEFBF7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その他追記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D830CA-CD4D-43CD-BC07-2A311FE48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乱数を発生する方法</a:t>
            </a:r>
            <a:endParaRPr kumimoji="1" lang="en-US" altLang="ja-JP" dirty="0"/>
          </a:p>
          <a:p>
            <a:r>
              <a:rPr kumimoji="1" lang="en-US" altLang="ja-JP" dirty="0" err="1"/>
              <a:t>randint</a:t>
            </a:r>
            <a:r>
              <a:rPr kumimoji="1" lang="en-US" altLang="ja-JP" dirty="0"/>
              <a:t>(1, </a:t>
            </a:r>
            <a:r>
              <a:rPr lang="en-US" altLang="ja-JP" dirty="0"/>
              <a:t>4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とすると，整数</a:t>
            </a:r>
            <a:r>
              <a:rPr kumimoji="1" lang="en-US" altLang="ja-JP" dirty="0"/>
              <a:t>1,2,3</a:t>
            </a:r>
            <a:r>
              <a:rPr kumimoji="1" lang="ja-JP" altLang="en-US" dirty="0"/>
              <a:t>から乱数を発生</a:t>
            </a:r>
            <a:endParaRPr kumimoji="1" lang="en-US" altLang="ja-JP" dirty="0"/>
          </a:p>
          <a:p>
            <a:r>
              <a:rPr kumimoji="1" lang="en-US" altLang="ja-JP" dirty="0"/>
              <a:t>random()</a:t>
            </a:r>
            <a:r>
              <a:rPr kumimoji="1" lang="ja-JP" altLang="en-US" dirty="0"/>
              <a:t>は，一様乱数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13092D-4C6B-4B1D-9CDF-C67230F4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164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584</Words>
  <Application>Microsoft Office PowerPoint</Application>
  <PresentationFormat>ワイド画面</PresentationFormat>
  <Paragraphs>90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 PsychoPyで課題作成②</vt:lpstr>
      <vt:lpstr>以下のような課題をつくりましょう。</vt:lpstr>
      <vt:lpstr>新しい部分</vt:lpstr>
      <vt:lpstr>必要な変数を作る（１ブロック分のみ）</vt:lpstr>
      <vt:lpstr>Feedbackに関する変数を設定する</vt:lpstr>
      <vt:lpstr>Feedbackに関する変数を設定する</vt:lpstr>
      <vt:lpstr>outcome: Feedbackの文字を表示する</vt:lpstr>
      <vt:lpstr>outcome: Feedbackの得点を表示する</vt:lpstr>
      <vt:lpstr>合計金額に関する変数を設定する</vt:lpstr>
      <vt:lpstr>outcome2 : 合計得点を表示する</vt:lpstr>
      <vt:lpstr>20試行にし，試行をランダムにする</vt:lpstr>
      <vt:lpstr>Tips: エクセルの参照行を指定する</vt:lpstr>
      <vt:lpstr>その他追記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toyama asako</dc:creator>
  <cp:lastModifiedBy>toyama asako</cp:lastModifiedBy>
  <cp:revision>22</cp:revision>
  <dcterms:created xsi:type="dcterms:W3CDTF">2019-11-01T05:26:28Z</dcterms:created>
  <dcterms:modified xsi:type="dcterms:W3CDTF">2020-07-27T08:02:16Z</dcterms:modified>
</cp:coreProperties>
</file>