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1" r:id="rId2"/>
    <p:sldId id="285" r:id="rId3"/>
    <p:sldId id="288" r:id="rId4"/>
    <p:sldId id="323" r:id="rId5"/>
    <p:sldId id="290" r:id="rId6"/>
    <p:sldId id="301" r:id="rId7"/>
    <p:sldId id="310" r:id="rId8"/>
    <p:sldId id="291" r:id="rId9"/>
    <p:sldId id="287" r:id="rId10"/>
    <p:sldId id="289" r:id="rId11"/>
    <p:sldId id="296" r:id="rId12"/>
    <p:sldId id="294" r:id="rId13"/>
    <p:sldId id="292" r:id="rId14"/>
    <p:sldId id="293" r:id="rId15"/>
    <p:sldId id="297" r:id="rId16"/>
    <p:sldId id="298" r:id="rId17"/>
    <p:sldId id="300" r:id="rId18"/>
    <p:sldId id="299" r:id="rId19"/>
    <p:sldId id="302" r:id="rId20"/>
    <p:sldId id="303" r:id="rId21"/>
    <p:sldId id="304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2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yama asako" userId="91b7d83d1f873051" providerId="LiveId" clId="{58F537E9-BD13-42A0-BD5B-74E6D39CE161}"/>
    <pc:docChg chg="delSld modSld">
      <pc:chgData name="toyama asako" userId="91b7d83d1f873051" providerId="LiveId" clId="{58F537E9-BD13-42A0-BD5B-74E6D39CE161}" dt="2020-07-27T07:48:25.602" v="3" actId="47"/>
      <pc:docMkLst>
        <pc:docMk/>
      </pc:docMkLst>
      <pc:sldChg chg="modSp mod">
        <pc:chgData name="toyama asako" userId="91b7d83d1f873051" providerId="LiveId" clId="{58F537E9-BD13-42A0-BD5B-74E6D39CE161}" dt="2020-07-27T07:48:22.012" v="1" actId="6549"/>
        <pc:sldMkLst>
          <pc:docMk/>
          <pc:sldMk cId="3495868243" sldId="271"/>
        </pc:sldMkLst>
        <pc:spChg chg="mod">
          <ac:chgData name="toyama asako" userId="91b7d83d1f873051" providerId="LiveId" clId="{58F537E9-BD13-42A0-BD5B-74E6D39CE161}" dt="2020-07-27T07:48:22.012" v="1" actId="6549"/>
          <ac:spMkLst>
            <pc:docMk/>
            <pc:sldMk cId="3495868243" sldId="271"/>
            <ac:spMk id="2" creationId="{A1FD5770-194F-4043-BDEE-47C77DDE6413}"/>
          </ac:spMkLst>
        </pc:spChg>
      </pc:sldChg>
      <pc:sldChg chg="del">
        <pc:chgData name="toyama asako" userId="91b7d83d1f873051" providerId="LiveId" clId="{58F537E9-BD13-42A0-BD5B-74E6D39CE161}" dt="2020-07-27T07:48:25.602" v="3" actId="47"/>
        <pc:sldMkLst>
          <pc:docMk/>
          <pc:sldMk cId="425856113" sldId="283"/>
        </pc:sldMkLst>
      </pc:sldChg>
      <pc:sldChg chg="del">
        <pc:chgData name="toyama asako" userId="91b7d83d1f873051" providerId="LiveId" clId="{58F537E9-BD13-42A0-BD5B-74E6D39CE161}" dt="2020-07-27T07:48:24.411" v="2" actId="47"/>
        <pc:sldMkLst>
          <pc:docMk/>
          <pc:sldMk cId="3979641047" sldId="3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8A150-5DD5-437A-B8ED-999F7CB2DC33}" type="datetimeFigureOut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88BB5-99DD-483F-89C1-8E59CD223E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108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98A76C-1380-4A6B-8AE0-C81FCBC41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1C95F6F-0588-47BA-8BC9-719E7A0C4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FCAC62-9648-477E-A55F-2F72F87C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6B78-1904-40EC-886D-5517477214D1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86DCFB-80AA-437C-B12E-EC16A7B9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00D6C9-238F-4DC8-8CE1-B026E29A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9673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D826E2-13A6-455C-BE57-E8B36B8B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CA99AD-CF60-4111-9DCF-8A6C0173F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47AE37-E235-497B-8275-062284BAF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5CC5-83A6-4835-B521-C83284D02FD3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4BC917-B9B0-4B53-A9A3-3819E1730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2E024F-62E3-4001-BE5A-75C98686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28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A3BAD8-7857-4B2E-9454-1B1807121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A3B0FA-6269-4C6E-903D-712FE2DA5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37BF37-DA35-4A21-89C9-5DABF9DA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DA2DD-B5B6-4616-BD6F-D2A1C7A2429A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D5FC16-AA15-4900-8F99-9F1A36E6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015DA6-8ECC-430D-A42D-07A19C08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19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812B1A-38B7-4763-9568-E4A71E47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A40F92-C5DD-460E-8E33-34A29B148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88622F-85C9-4EFF-8DAF-CD09990DC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194DA3-FF36-4FAC-B19C-B4453C5B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8A59E-BACE-42B8-81A1-C8308F2B23B2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0901B4-62B0-4B57-BCAA-60B352EA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F933E1-E938-421A-AFB3-082C9CFF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12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3D686E-42CB-4A75-9EA1-9E9CC5D8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32499F-FD22-4401-8B3A-ECE4B9547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1F6385-0B43-4F8E-92D2-5FE4AE2F7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0EDF43B-C2BB-49AC-B9C6-6B900EFC7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64DB5F-161E-4658-922E-CF481F585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BC2AF4-7933-4A2A-98E1-5A6C24F5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FEFF2-3F8F-4123-925A-2AF5DDE618B0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0168FD6-FA14-4783-B8E6-DA52ED154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A1A9DC0-2A6A-4831-968D-3FF96120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42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08CC10-975A-472E-9DA0-C0BEAD507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86B5E7-0777-4A0F-BA1B-F7E41D2F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D5499-3633-4C65-B3A1-C09A6202E384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CD255CC-C853-4782-8E2F-C57F75B77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4636C3-EC4C-4555-8C32-B77FF4FC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20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EA762D-1481-4333-A176-7E62CB93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0E67F-8DDA-4A86-932D-C240A6D08EA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515CE5-7A20-4769-ABA0-506B0821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671B97-E1E6-42E2-A2D4-6F878667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002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E5DECC-C683-400F-B5E5-C0472A074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62B4F9-08BD-4DF6-9F9A-5AD15CCE7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F29E18-6559-4FEF-8C65-1E4671730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58DE3F-EEA1-4949-98FC-4238AA2E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DE2D-A499-4B6F-BBAB-26FA43EE4EBC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7AE1D5-1825-411E-861B-71F94EA27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65D6B5-C2F8-40D8-9472-3F0FE564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376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6497F5-BD61-4D2A-B4E9-D763AD53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D73D85C-6857-469B-BE61-12294AD3B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2C059E-F38C-45A7-A1AD-D6AF65E09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15A1FF-5638-4231-B351-3302FD20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0BA0-382C-46DB-A0A6-2EB776262637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42BE06-D3F2-4D8A-A6A7-99C588175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690B3A-1791-45A5-80B9-6DD28636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881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5F585E-AE84-487C-A941-C27DBFB9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089AC8B-2FDD-410D-8F85-A4F39EAAA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95F4FE-77BA-4726-A304-6101F266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A47A-57F8-4C68-B03A-5E30A741C867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04E10A-B509-486B-B5CF-AC11ECA8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432875-59ED-44D7-9E48-CF42A7AC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06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1D3BB4-1323-4318-9915-DA9FBBAC2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A380C2-E9B3-43DB-A1C1-6C9942378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0F2399-FE5D-4F5D-AA08-7D4F4361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8266-F82C-4CB0-AE55-3EE2991EFD1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C5462D-244A-4889-B6D9-B2413065C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844BAC-73BC-4933-8780-D022D2D65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92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1DDC6FD-B2E1-48E3-9B4A-462C1D1B7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4DB3B7-1C38-4651-AFA6-D0FBC92E1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1E9D36-2FEB-4647-ABB5-4BC8D83D7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89600-5CC3-47AE-B6A1-A4382D1F6F2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2D7F87-2ABB-4150-9622-C9619BAEC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AFE5A2-2CCD-4CD5-8018-555435699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83BC5-25E0-4940-932E-9DA23569491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976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D5770-194F-4043-BDEE-47C77DDE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	PsychoPy</a:t>
            </a:r>
            <a:r>
              <a:rPr kumimoji="1" lang="ja-JP" altLang="en-US" dirty="0"/>
              <a:t>で課題作成①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CDA1B7-3EDB-4843-941F-802A1DB8F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04B5A5-D026-4CF3-BD32-AEA6CC01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4941-32CA-4321-91E5-072AEC66C15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86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A8594-E9F5-46EB-86F5-D938E2E4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課題：</a:t>
            </a:r>
            <a:br>
              <a:rPr kumimoji="1" lang="en-US" altLang="ja-JP" b="1" dirty="0"/>
            </a:br>
            <a:r>
              <a:rPr kumimoji="1" lang="ja-JP" altLang="en-US" b="1" dirty="0"/>
              <a:t>以下のような選択課題をつくりましょう。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D03264-BBE8-436F-A37F-8C8209BDC89E}"/>
              </a:ext>
            </a:extLst>
          </p:cNvPr>
          <p:cNvSpPr/>
          <p:nvPr/>
        </p:nvSpPr>
        <p:spPr>
          <a:xfrm>
            <a:off x="2734734" y="2235200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＋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BE9C474-F058-4EBD-B71B-40A9A106743C}"/>
              </a:ext>
            </a:extLst>
          </p:cNvPr>
          <p:cNvGrpSpPr/>
          <p:nvPr/>
        </p:nvGrpSpPr>
        <p:grpSpPr>
          <a:xfrm>
            <a:off x="4106334" y="2870200"/>
            <a:ext cx="1972733" cy="1270000"/>
            <a:chOff x="2523067" y="2794000"/>
            <a:chExt cx="1972733" cy="12700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D5AB153-55BB-4B37-8241-55B380E51A60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9" name="図 8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296DF46C-05F0-4CFE-B20F-5EADD59A4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1" name="図 10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ED239777-69AA-43C6-9724-3F27C42AA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B9CBE6BA-CFC7-4A4E-A44C-4E37D7FC5378}"/>
              </a:ext>
            </a:extLst>
          </p:cNvPr>
          <p:cNvGrpSpPr/>
          <p:nvPr/>
        </p:nvGrpSpPr>
        <p:grpSpPr>
          <a:xfrm>
            <a:off x="5477934" y="3704167"/>
            <a:ext cx="1972733" cy="1270000"/>
            <a:chOff x="2523067" y="2794000"/>
            <a:chExt cx="1972733" cy="1270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CCE1A1E-9AB9-4317-B598-AEA5F71E8D6E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15" name="図 14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FC34DB2-BDF6-4C9C-BB79-2E492DDA6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6" name="図 15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4736306-6D42-4C6C-ADB3-0E6BD18FA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7FD0EFE-B35C-4A91-BC78-5104D50B5A35}"/>
              </a:ext>
            </a:extLst>
          </p:cNvPr>
          <p:cNvSpPr/>
          <p:nvPr/>
        </p:nvSpPr>
        <p:spPr>
          <a:xfrm>
            <a:off x="5681134" y="4521200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93EEC3-E23A-4B07-8D18-C598A3F3664A}"/>
              </a:ext>
            </a:extLst>
          </p:cNvPr>
          <p:cNvSpPr txBox="1"/>
          <p:nvPr/>
        </p:nvSpPr>
        <p:spPr>
          <a:xfrm>
            <a:off x="4707467" y="2192867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注視点　</a:t>
            </a:r>
            <a:r>
              <a:rPr kumimoji="1" lang="en-US" altLang="ja-JP" dirty="0"/>
              <a:t>0.5</a:t>
            </a:r>
            <a:r>
              <a:rPr kumimoji="1" lang="ja-JP" altLang="en-US" dirty="0"/>
              <a:t>秒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F142B0-5C82-4769-8952-23A14487D932}"/>
              </a:ext>
            </a:extLst>
          </p:cNvPr>
          <p:cNvSpPr txBox="1"/>
          <p:nvPr/>
        </p:nvSpPr>
        <p:spPr>
          <a:xfrm>
            <a:off x="6079067" y="28415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選択画面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0EA4DEB-3F22-43F7-8473-CF661131DCC8}"/>
              </a:ext>
            </a:extLst>
          </p:cNvPr>
          <p:cNvSpPr txBox="1"/>
          <p:nvPr/>
        </p:nvSpPr>
        <p:spPr>
          <a:xfrm>
            <a:off x="7575865" y="3704167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ハイライト　</a:t>
            </a:r>
            <a:r>
              <a:rPr kumimoji="1" lang="en-US" altLang="ja-JP" dirty="0"/>
              <a:t>1</a:t>
            </a:r>
            <a:r>
              <a:rPr kumimoji="1" lang="ja-JP" altLang="en-US" dirty="0"/>
              <a:t>秒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5016817-6B9F-4D52-844F-944ACE0B539C}"/>
              </a:ext>
            </a:extLst>
          </p:cNvPr>
          <p:cNvSpPr txBox="1"/>
          <p:nvPr/>
        </p:nvSpPr>
        <p:spPr>
          <a:xfrm>
            <a:off x="871443" y="5686868"/>
            <a:ext cx="1048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２つの刺激が繰り返し提示され，参加者はどちらか一方を選ぶ。これを</a:t>
            </a:r>
            <a:r>
              <a:rPr kumimoji="1" lang="en-US" altLang="ja-JP" sz="2000" b="1" dirty="0"/>
              <a:t>10</a:t>
            </a:r>
            <a:r>
              <a:rPr kumimoji="1" lang="ja-JP" altLang="en-US" sz="2000" b="1" dirty="0"/>
              <a:t>試行繰り返す。</a:t>
            </a:r>
            <a:endParaRPr kumimoji="1" lang="en-US" altLang="ja-JP" sz="2000" b="1" dirty="0"/>
          </a:p>
        </p:txBody>
      </p:sp>
      <p:sp>
        <p:nvSpPr>
          <p:cNvPr id="22" name="スライド番号プレースホルダー 21">
            <a:extLst>
              <a:ext uri="{FF2B5EF4-FFF2-40B4-BE49-F238E27FC236}">
                <a16:creationId xmlns:a16="http://schemas.microsoft.com/office/drawing/2014/main" id="{D60E9B5B-FFA6-485F-B007-B98D715B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96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602EB-7634-401F-A375-60D149FF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PsychoPy</a:t>
            </a:r>
            <a:r>
              <a:rPr kumimoji="1" lang="ja-JP" altLang="en-US" dirty="0"/>
              <a:t>で課題作成時の注意点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7B7DF4-EA32-4B7D-B034-38F20F274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 dirty="0">
                <a:highlight>
                  <a:srgbClr val="FFFF00"/>
                </a:highlight>
              </a:rPr>
              <a:t>作業は </a:t>
            </a:r>
            <a:r>
              <a:rPr lang="en-US" altLang="ja-JP" b="1" dirty="0">
                <a:highlight>
                  <a:srgbClr val="FFFF00"/>
                </a:highlight>
              </a:rPr>
              <a:t>Builder</a:t>
            </a:r>
            <a:r>
              <a:rPr lang="ja-JP" altLang="en-US" b="1" dirty="0">
                <a:highlight>
                  <a:srgbClr val="FFFF00"/>
                </a:highlight>
              </a:rPr>
              <a:t> </a:t>
            </a:r>
            <a:r>
              <a:rPr lang="ja-JP" altLang="en-US" dirty="0">
                <a:highlight>
                  <a:srgbClr val="FFFF00"/>
                </a:highlight>
              </a:rPr>
              <a:t>の画面で行います。</a:t>
            </a:r>
            <a:r>
              <a:rPr lang="en-US" altLang="ja-JP" dirty="0">
                <a:highlight>
                  <a:srgbClr val="FFFF00"/>
                </a:highlight>
              </a:rPr>
              <a:t>PsychoPy</a:t>
            </a:r>
            <a:r>
              <a:rPr lang="ja-JP" altLang="en-US" dirty="0">
                <a:highlight>
                  <a:srgbClr val="FFFF00"/>
                </a:highlight>
              </a:rPr>
              <a:t>を立ち上げた時に </a:t>
            </a:r>
            <a:r>
              <a:rPr lang="en-US" altLang="ja-JP" b="1" dirty="0">
                <a:highlight>
                  <a:srgbClr val="FFFF00"/>
                </a:highlight>
              </a:rPr>
              <a:t>Coder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ja-JP" altLang="en-US" dirty="0">
                <a:highlight>
                  <a:srgbClr val="FFFF00"/>
                </a:highlight>
              </a:rPr>
              <a:t>しか開かれてない場合は，</a:t>
            </a:r>
            <a:r>
              <a:rPr lang="ja-JP" altLang="en-US" u="sng" dirty="0">
                <a:highlight>
                  <a:srgbClr val="FFFF00"/>
                </a:highlight>
              </a:rPr>
              <a:t>「ビュー」→「</a:t>
            </a:r>
            <a:r>
              <a:rPr lang="en-US" altLang="ja-JP" u="sng" dirty="0">
                <a:highlight>
                  <a:srgbClr val="FFFF00"/>
                </a:highlight>
              </a:rPr>
              <a:t>Builder</a:t>
            </a:r>
            <a:r>
              <a:rPr lang="ja-JP" altLang="en-US" u="sng" dirty="0">
                <a:highlight>
                  <a:srgbClr val="FFFF00"/>
                </a:highlight>
              </a:rPr>
              <a:t>を開く」で </a:t>
            </a:r>
            <a:r>
              <a:rPr lang="en-US" altLang="ja-JP" b="1" u="sng" dirty="0">
                <a:highlight>
                  <a:srgbClr val="FFFF00"/>
                </a:highlight>
              </a:rPr>
              <a:t>Builder</a:t>
            </a:r>
            <a:r>
              <a:rPr lang="ja-JP" altLang="en-US" b="1" u="sng" dirty="0">
                <a:highlight>
                  <a:srgbClr val="FFFF00"/>
                </a:highlight>
              </a:rPr>
              <a:t> </a:t>
            </a:r>
            <a:r>
              <a:rPr lang="ja-JP" altLang="en-US" u="sng" dirty="0">
                <a:highlight>
                  <a:srgbClr val="FFFF00"/>
                </a:highlight>
              </a:rPr>
              <a:t>の画面を開きましょう</a:t>
            </a:r>
            <a:r>
              <a:rPr lang="ja-JP" altLang="en-US" dirty="0">
                <a:highlight>
                  <a:srgbClr val="FFFF00"/>
                </a:highlight>
              </a:rPr>
              <a:t>。</a:t>
            </a: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dirty="0">
              <a:highlight>
                <a:srgbClr val="FFFF00"/>
              </a:highlight>
            </a:endParaRPr>
          </a:p>
          <a:p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[PsychoPy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のファイル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]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，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[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刺激のファイル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]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，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[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エクセルのファイル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]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は一つのフォルダに保存します。</a:t>
            </a:r>
            <a:endParaRPr lang="en-US" altLang="ja-JP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ja-JP" dirty="0">
              <a:highlight>
                <a:srgbClr val="FFFF00"/>
              </a:highlight>
            </a:endParaRPr>
          </a:p>
          <a:p>
            <a:r>
              <a:rPr lang="ja-JP" altLang="en-US" b="1" dirty="0">
                <a:highlight>
                  <a:srgbClr val="FFFF00"/>
                </a:highlight>
              </a:rPr>
              <a:t>キーボードを指定する時は</a:t>
            </a:r>
            <a:r>
              <a:rPr lang="ja-JP" altLang="en-US" dirty="0">
                <a:highlight>
                  <a:srgbClr val="FFFF00"/>
                </a:highlight>
              </a:rPr>
              <a:t>，</a:t>
            </a:r>
            <a:r>
              <a:rPr lang="en-US" altLang="ja-JP" dirty="0">
                <a:highlight>
                  <a:srgbClr val="FFFF00"/>
                </a:highlight>
              </a:rPr>
              <a:t>”f” </a:t>
            </a:r>
            <a:r>
              <a:rPr lang="ja-JP" altLang="en-US" dirty="0">
                <a:highlight>
                  <a:srgbClr val="FFFF00"/>
                </a:highlight>
              </a:rPr>
              <a:t>のように</a:t>
            </a:r>
            <a:r>
              <a:rPr lang="ja-JP" altLang="en-US" b="1" dirty="0">
                <a:highlight>
                  <a:srgbClr val="FFFF00"/>
                </a:highlight>
              </a:rPr>
              <a:t>小文字</a:t>
            </a:r>
            <a:r>
              <a:rPr lang="ja-JP" altLang="en-US" dirty="0">
                <a:highlight>
                  <a:srgbClr val="FFFF00"/>
                </a:highlight>
              </a:rPr>
              <a:t>を使います。大文字にするとエラーは出ずに，課題が止まるので注意しましょう。</a:t>
            </a:r>
            <a:endParaRPr lang="en-US" altLang="ja-JP" dirty="0">
              <a:highlight>
                <a:srgbClr val="FFFF00"/>
              </a:highlight>
            </a:endParaRPr>
          </a:p>
          <a:p>
            <a:endParaRPr lang="en-US" altLang="ja-JP" dirty="0"/>
          </a:p>
          <a:p>
            <a:r>
              <a:rPr lang="ja-JP" altLang="en-US" b="1" dirty="0"/>
              <a:t>名前は重複して使えません</a:t>
            </a:r>
            <a:r>
              <a:rPr lang="ja-JP" altLang="en-US" dirty="0"/>
              <a:t>！（これがエラーの原因になることが非常に多いですが，多くの場合は，名前が重ならないように自動で調整されます。）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b="1" dirty="0"/>
              <a:t>少し変更を加えるたびに，課題が動くか確認</a:t>
            </a:r>
            <a:r>
              <a:rPr lang="ja-JP" altLang="en-US" dirty="0"/>
              <a:t>しましょう。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45059D-41A0-4A5F-9451-91BFB3EF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64A762-213D-4A04-B0FC-3CCAA2CB3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325" y="5232399"/>
            <a:ext cx="6762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84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4B4F14-9E73-492F-9FE0-3DCA6757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PsychoPy</a:t>
            </a:r>
            <a:r>
              <a:rPr lang="ja-JP" altLang="en-US" dirty="0"/>
              <a:t>で課題作成時の注意点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715722-8855-41F2-8BAA-50C6B051A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Mac</a:t>
            </a:r>
            <a:r>
              <a:rPr lang="ja-JP" altLang="en-US" dirty="0"/>
              <a:t>で文字が欠けてしまうので，「</a:t>
            </a:r>
            <a:r>
              <a:rPr lang="ja-JP" altLang="en-US" b="1" dirty="0"/>
              <a:t>ヒラギノ角ゴシック </a:t>
            </a:r>
            <a:r>
              <a:rPr lang="en-US" altLang="ja-JP" b="1" dirty="0"/>
              <a:t>W5</a:t>
            </a:r>
            <a:r>
              <a:rPr lang="ja-JP" altLang="en-US" dirty="0"/>
              <a:t>」のフォントを使う。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PsychoPy</a:t>
            </a:r>
            <a:r>
              <a:rPr kumimoji="1" lang="ja-JP" altLang="en-US" dirty="0"/>
              <a:t>はバージョンが変わると，これまで動いていた課題が動かなくなることもあります。動いたとしても，出力形式が変わることがあります。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一つの実験が終了するまで，なるべくアップデートはしないようにしましょう。</a:t>
            </a:r>
            <a:endParaRPr kumimoji="1" lang="en-US" altLang="ja-JP" dirty="0"/>
          </a:p>
          <a:p>
            <a:pPr lvl="1"/>
            <a:r>
              <a:rPr lang="ja-JP" altLang="en-US" dirty="0"/>
              <a:t>一応，バージョンを選んで実行することも最近可能なようです。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A94940-5EA6-45D8-9567-5AC70FF8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39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B14BB-84A3-4B37-BB7F-73FB10EE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Tips: </a:t>
            </a:r>
            <a:r>
              <a:rPr lang="ja-JP" altLang="en-US" b="1" dirty="0"/>
              <a:t>新しい</a:t>
            </a:r>
            <a:r>
              <a:rPr lang="en-US" altLang="ja-JP" b="1" dirty="0"/>
              <a:t>Routine</a:t>
            </a:r>
            <a:r>
              <a:rPr lang="ja-JP" altLang="en-US" b="1" dirty="0"/>
              <a:t>を</a:t>
            </a:r>
            <a:br>
              <a:rPr lang="en-US" altLang="ja-JP" b="1" dirty="0"/>
            </a:br>
            <a:r>
              <a:rPr lang="ja-JP" altLang="en-US" b="1" dirty="0"/>
              <a:t>作成する方法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BBA985-6794-4E92-9573-C434DF4BE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0943" cy="4351338"/>
          </a:xfrm>
        </p:spPr>
        <p:txBody>
          <a:bodyPr/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Routine</a:t>
            </a:r>
            <a:r>
              <a:rPr kumimoji="1" lang="ja-JP" altLang="en-US" dirty="0"/>
              <a:t>を挿入」をクリックして，</a:t>
            </a:r>
            <a:r>
              <a:rPr kumimoji="1" lang="en-US" altLang="ja-JP" dirty="0"/>
              <a:t>(new) </a:t>
            </a:r>
            <a:r>
              <a:rPr kumimoji="1" lang="ja-JP" altLang="en-US" dirty="0"/>
              <a:t>を選択すると新しい</a:t>
            </a:r>
            <a:r>
              <a:rPr kumimoji="1" lang="en-US" altLang="ja-JP" dirty="0"/>
              <a:t>Routine</a:t>
            </a:r>
            <a:r>
              <a:rPr kumimoji="1" lang="ja-JP" altLang="en-US" dirty="0"/>
              <a:t>が作れます。</a:t>
            </a:r>
            <a:endParaRPr kumimoji="1" lang="en-US" altLang="ja-JP" dirty="0"/>
          </a:p>
          <a:p>
            <a:r>
              <a:rPr lang="ja-JP" altLang="en-US" dirty="0"/>
              <a:t>流れの図の中に●が出てくるので，適切な挿入箇所を選択して下さい。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C0115AB-E7C5-4E61-9368-7423A0EFE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067" y="274791"/>
            <a:ext cx="3876809" cy="6308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FF6D73-A929-4CB5-A086-25794B4D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29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48EAF-8D88-4373-8D04-21F35D806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Tips: </a:t>
            </a:r>
            <a:r>
              <a:rPr kumimoji="1" lang="ja-JP" altLang="en-US" b="1" dirty="0"/>
              <a:t>画面</a:t>
            </a:r>
            <a:r>
              <a:rPr lang="ja-JP" altLang="en-US" b="1" dirty="0"/>
              <a:t>の位置に関して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D573CC-E688-4999-B4B6-3EE8D3E06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ja-JP" dirty="0"/>
              <a:t>(x, y) </a:t>
            </a:r>
            <a:r>
              <a:rPr lang="ja-JP" altLang="en-US" dirty="0"/>
              <a:t>の位置を設定する際，デフォルトでは，単位として，</a:t>
            </a:r>
            <a:r>
              <a:rPr lang="en-US" altLang="ja-JP" dirty="0"/>
              <a:t>norm</a:t>
            </a:r>
            <a:r>
              <a:rPr lang="ja-JP" altLang="en-US" dirty="0"/>
              <a:t>が使われています。</a:t>
            </a:r>
            <a:endParaRPr lang="en-US" altLang="ja-JP" dirty="0"/>
          </a:p>
          <a:p>
            <a:r>
              <a:rPr lang="ja-JP" altLang="ja-JP" dirty="0"/>
              <a:t>これは，</a:t>
            </a:r>
            <a:r>
              <a:rPr lang="ja-JP" altLang="ja-JP" dirty="0">
                <a:solidFill>
                  <a:srgbClr val="FF0000"/>
                </a:solidFill>
              </a:rPr>
              <a:t>画面の縦横を</a:t>
            </a:r>
            <a:r>
              <a:rPr lang="en-US" altLang="ja-JP" dirty="0">
                <a:solidFill>
                  <a:srgbClr val="FF0000"/>
                </a:solidFill>
              </a:rPr>
              <a:t>[-1,1]</a:t>
            </a:r>
            <a:r>
              <a:rPr lang="ja-JP" altLang="ja-JP" dirty="0">
                <a:solidFill>
                  <a:srgbClr val="FF0000"/>
                </a:solidFill>
              </a:rPr>
              <a:t>にスケーリング</a:t>
            </a:r>
            <a:r>
              <a:rPr lang="ja-JP" altLang="en-US" dirty="0"/>
              <a:t>しています。</a:t>
            </a:r>
            <a:endParaRPr lang="en-US" altLang="ja-JP" dirty="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D7329727-6B5B-46B8-8C36-6E2233655FEC}"/>
              </a:ext>
            </a:extLst>
          </p:cNvPr>
          <p:cNvCxnSpPr/>
          <p:nvPr/>
        </p:nvCxnSpPr>
        <p:spPr>
          <a:xfrm>
            <a:off x="5731933" y="3522133"/>
            <a:ext cx="0" cy="285326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DBBF9F0-B45F-49D1-816F-9D1FD926A925}"/>
              </a:ext>
            </a:extLst>
          </p:cNvPr>
          <p:cNvCxnSpPr>
            <a:cxnSpLocks/>
          </p:cNvCxnSpPr>
          <p:nvPr/>
        </p:nvCxnSpPr>
        <p:spPr>
          <a:xfrm>
            <a:off x="3318933" y="4859867"/>
            <a:ext cx="51816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A63213-61A0-4238-B1EA-500FC2E6A519}"/>
              </a:ext>
            </a:extLst>
          </p:cNvPr>
          <p:cNvSpPr txBox="1"/>
          <p:nvPr/>
        </p:nvSpPr>
        <p:spPr>
          <a:xfrm>
            <a:off x="5888251" y="3358106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( 0, 1)</a:t>
            </a:r>
            <a:endParaRPr kumimoji="1" lang="ja-JP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1D8754-8957-4706-A8B5-37F566DEBB25}"/>
              </a:ext>
            </a:extLst>
          </p:cNvPr>
          <p:cNvSpPr txBox="1"/>
          <p:nvPr/>
        </p:nvSpPr>
        <p:spPr>
          <a:xfrm>
            <a:off x="5989851" y="6118491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( 0, -1)</a:t>
            </a:r>
            <a:endParaRPr kumimoji="1" lang="ja-JP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4510224-6D47-4068-8855-E1E80A7D02BC}"/>
              </a:ext>
            </a:extLst>
          </p:cNvPr>
          <p:cNvSpPr txBox="1"/>
          <p:nvPr/>
        </p:nvSpPr>
        <p:spPr>
          <a:xfrm>
            <a:off x="2828852" y="4364341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-1, 0)</a:t>
            </a:r>
            <a:endParaRPr kumimoji="1" lang="ja-JP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6238B50-069D-4825-B69A-A8ED88EC0C1A}"/>
              </a:ext>
            </a:extLst>
          </p:cNvPr>
          <p:cNvSpPr txBox="1"/>
          <p:nvPr/>
        </p:nvSpPr>
        <p:spPr>
          <a:xfrm>
            <a:off x="8044318" y="436434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( 1, 0)</a:t>
            </a:r>
            <a:endParaRPr kumimoji="1" lang="ja-JP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B8F95EA7-D43C-4DCE-8D07-C61436F3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453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D5770-194F-4043-BDEE-47C77DDE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具体的な作成の手順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CDA1B7-3EDB-4843-941F-802A1DB8F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04B5A5-D026-4CF3-BD32-AEA6CC01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4941-32CA-4321-91E5-072AEC66C150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19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68978-9864-4433-A347-298DB99D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必要な変数を作る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289AD0-6DB7-4DFF-9670-EFB8B9EE8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setting.xlsx</a:t>
            </a:r>
            <a:r>
              <a:rPr lang="ja-JP" altLang="en-US" dirty="0"/>
              <a:t>　という名前で下記のファイルを作成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8E02070-D9CD-4E0D-A316-4D8DB62AF6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930"/>
          <a:stretch/>
        </p:blipFill>
        <p:spPr>
          <a:xfrm>
            <a:off x="3828231" y="2396596"/>
            <a:ext cx="2183103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C7740D-F3CD-4016-9F9F-05799B4AE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40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2641F-69A8-4E47-9FB1-2B8E6B8FE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cross</a:t>
            </a:r>
            <a:endParaRPr kumimoji="1" lang="ja-JP" altLang="en-US" b="1" dirty="0">
              <a:highlight>
                <a:srgbClr val="00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719AF8-87F4-4469-B4E4-ECE7EAEBE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F1109B9-55D4-4588-B00F-09446E5F5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17" y="1617811"/>
            <a:ext cx="7863224" cy="524018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4E000B0-7368-42D7-8983-D63388501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355" y="1027906"/>
            <a:ext cx="4197432" cy="56896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3413747-E78A-4C6C-BC13-A2FCD8F35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677" y="383059"/>
            <a:ext cx="4167565" cy="187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50573805-49CA-418B-B495-E6E75AF50807}"/>
              </a:ext>
            </a:extLst>
          </p:cNvPr>
          <p:cNvCxnSpPr>
            <a:cxnSpLocks/>
          </p:cNvCxnSpPr>
          <p:nvPr/>
        </p:nvCxnSpPr>
        <p:spPr>
          <a:xfrm flipH="1">
            <a:off x="838200" y="1464733"/>
            <a:ext cx="3979333" cy="1092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5BA0B6F-A8A2-4BC5-93EA-7F6D94E53CA8}"/>
              </a:ext>
            </a:extLst>
          </p:cNvPr>
          <p:cNvSpPr txBox="1"/>
          <p:nvPr/>
        </p:nvSpPr>
        <p:spPr>
          <a:xfrm>
            <a:off x="8314682" y="3813537"/>
            <a:ext cx="43954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0.2</a:t>
            </a:r>
            <a:endParaRPr kumimoji="1" lang="ja-JP" altLang="en-US" sz="1400" b="1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E31E296-47AF-4FFF-A921-4AD46944A81E}"/>
              </a:ext>
            </a:extLst>
          </p:cNvPr>
          <p:cNvSpPr/>
          <p:nvPr/>
        </p:nvSpPr>
        <p:spPr>
          <a:xfrm>
            <a:off x="355970" y="3967425"/>
            <a:ext cx="6976533" cy="220872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b="1" u="sng" dirty="0">
                <a:solidFill>
                  <a:schemeClr val="bg1"/>
                </a:solidFill>
              </a:rPr>
              <a:t>※※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　通常，注視点（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+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）は，試行間だけでなく，刺激の提示中もずっと同じ箇所に提示します。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pPr algn="ctr"/>
            <a:endParaRPr kumimoji="1" lang="en-US" altLang="ja-JP" sz="2400" b="1" u="sng" dirty="0">
              <a:solidFill>
                <a:schemeClr val="bg1"/>
              </a:solidFill>
            </a:endParaRPr>
          </a:p>
          <a:p>
            <a:pPr algn="ctr"/>
            <a:r>
              <a:rPr lang="ja-JP" altLang="en-US" sz="2400" dirty="0"/>
              <a:t>今回の練習では，試行間でのみ提示します。</a:t>
            </a:r>
            <a:endParaRPr kumimoji="1" lang="ja-JP" altLang="en-US" sz="2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DB6CAA1-DF7B-40B0-9EA8-2E60FDE9B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775" y="6117696"/>
            <a:ext cx="676275" cy="609600"/>
          </a:xfrm>
          <a:prstGeom prst="rect">
            <a:avLst/>
          </a:prstGeom>
        </p:spPr>
      </p:pic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A56AAB96-DD61-413A-B86A-FDCF0F40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433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07925-ED52-46DF-8679-8978405A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c</a:t>
            </a:r>
            <a:r>
              <a:rPr kumimoji="1" lang="en-US" altLang="ja-JP" b="1" dirty="0">
                <a:highlight>
                  <a:srgbClr val="00FF00"/>
                </a:highlight>
              </a:rPr>
              <a:t>hoice</a:t>
            </a:r>
            <a:endParaRPr kumimoji="1" lang="ja-JP" altLang="en-US" b="1" dirty="0">
              <a:highlight>
                <a:srgbClr val="00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E1B39E-42D5-4ACC-9D2B-3C0DA4818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A984B00-97FE-4B99-9F3A-CD39DB53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273771" cy="51961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264DB10-D9F6-4BEF-B52F-602ED4B9B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67265"/>
            <a:ext cx="5517580" cy="5317067"/>
          </a:xfrm>
          <a:prstGeom prst="rect">
            <a:avLst/>
          </a:prstGeom>
        </p:spPr>
      </p:pic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1022B2AC-E3CB-4519-9367-F85BFE218366}"/>
              </a:ext>
            </a:extLst>
          </p:cNvPr>
          <p:cNvSpPr/>
          <p:nvPr/>
        </p:nvSpPr>
        <p:spPr>
          <a:xfrm>
            <a:off x="9138423" y="230188"/>
            <a:ext cx="2810933" cy="1269739"/>
          </a:xfrm>
          <a:prstGeom prst="wedgeRectCallout">
            <a:avLst>
              <a:gd name="adj1" fmla="val 15312"/>
              <a:gd name="adj2" fmla="val 1779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変数を指定した箇所は</a:t>
            </a:r>
            <a:r>
              <a:rPr kumimoji="1" lang="ja-JP" altLang="en-US" b="1" dirty="0"/>
              <a:t>「繰り返し毎に更新」</a:t>
            </a:r>
            <a:r>
              <a:rPr kumimoji="1" lang="ja-JP" altLang="en-US" dirty="0"/>
              <a:t>にすること！</a:t>
            </a: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606C9191-1C84-4208-A9DF-C3A9C7E0C7F1}"/>
              </a:ext>
            </a:extLst>
          </p:cNvPr>
          <p:cNvSpPr/>
          <p:nvPr/>
        </p:nvSpPr>
        <p:spPr>
          <a:xfrm>
            <a:off x="2023534" y="1825625"/>
            <a:ext cx="3335866" cy="1269739"/>
          </a:xfrm>
          <a:prstGeom prst="wedgeRectCallout">
            <a:avLst>
              <a:gd name="adj1" fmla="val 97714"/>
              <a:gd name="adj2" fmla="val 6930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変数は頭に「</a:t>
            </a:r>
            <a:r>
              <a:rPr kumimoji="1" lang="en-US" altLang="ja-JP" b="1" dirty="0"/>
              <a:t>$</a:t>
            </a:r>
            <a:r>
              <a:rPr kumimoji="1" lang="ja-JP" altLang="en-US" dirty="0"/>
              <a:t>」をつけます。</a:t>
            </a:r>
            <a:endParaRPr kumimoji="1" lang="en-US" altLang="ja-JP" dirty="0"/>
          </a:p>
          <a:p>
            <a:pPr algn="ctr"/>
            <a:r>
              <a:rPr lang="ja-JP" altLang="en-US" dirty="0"/>
              <a:t>ここでは，エクセルで作った変数を入れます。</a:t>
            </a:r>
            <a:endParaRPr kumimoji="1" lang="ja-JP" altLang="en-US" dirty="0"/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AD0496AF-DFBB-4C15-81EF-0699570CC9F8}"/>
              </a:ext>
            </a:extLst>
          </p:cNvPr>
          <p:cNvSpPr/>
          <p:nvPr/>
        </p:nvSpPr>
        <p:spPr>
          <a:xfrm>
            <a:off x="2760134" y="345989"/>
            <a:ext cx="3335866" cy="1269739"/>
          </a:xfrm>
          <a:prstGeom prst="wedgeRectCallout">
            <a:avLst>
              <a:gd name="adj1" fmla="val 122587"/>
              <a:gd name="adj2" fmla="val 12398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キー押しの反応があるまで刺激を提示し続ける時は空白にします。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3F964F78-A152-4697-86FF-25E42684B416}"/>
              </a:ext>
            </a:extLst>
          </p:cNvPr>
          <p:cNvSpPr/>
          <p:nvPr/>
        </p:nvSpPr>
        <p:spPr>
          <a:xfrm>
            <a:off x="1286904" y="3246170"/>
            <a:ext cx="138856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9C7AE2A8-0DF9-4ED7-AC53-F4485872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235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07925-ED52-46DF-8679-8978405A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c</a:t>
            </a:r>
            <a:r>
              <a:rPr kumimoji="1" lang="en-US" altLang="ja-JP" b="1" dirty="0">
                <a:highlight>
                  <a:srgbClr val="00FF00"/>
                </a:highlight>
              </a:rPr>
              <a:t>hoice</a:t>
            </a:r>
            <a:endParaRPr kumimoji="1" lang="ja-JP" altLang="en-US" b="1" dirty="0">
              <a:highlight>
                <a:srgbClr val="00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E1B39E-42D5-4ACC-9D2B-3C0DA4818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A984B00-97FE-4B99-9F3A-CD39DB53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273771" cy="519610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0A996A4-DB33-405E-83EF-78E8AEF00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035" y="1414528"/>
            <a:ext cx="5019702" cy="4762435"/>
          </a:xfrm>
          <a:prstGeom prst="rect">
            <a:avLst/>
          </a:prstGeom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D706FB5B-DE33-4833-ADF8-D13416F1532F}"/>
              </a:ext>
            </a:extLst>
          </p:cNvPr>
          <p:cNvSpPr/>
          <p:nvPr/>
        </p:nvSpPr>
        <p:spPr>
          <a:xfrm>
            <a:off x="1202237" y="4152103"/>
            <a:ext cx="138856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74E06DA1-C439-4776-B1B8-9840428AF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9775" y="6117696"/>
            <a:ext cx="676275" cy="609600"/>
          </a:xfrm>
          <a:prstGeom prst="rect">
            <a:avLst/>
          </a:prstGeom>
        </p:spPr>
      </p:pic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6AF3BC2D-5847-4EF4-8906-49A2DC11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09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B004AD-DD2D-4A1F-9022-69A99535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Loop</a:t>
            </a:r>
            <a:r>
              <a:rPr kumimoji="1" lang="ja-JP" altLang="en-US" b="1" dirty="0"/>
              <a:t>の挿入１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44666A-9583-4FF1-8061-F581C6CD5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35867" cy="4351338"/>
          </a:xfrm>
        </p:spPr>
        <p:txBody>
          <a:bodyPr/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Loop</a:t>
            </a:r>
            <a:r>
              <a:rPr kumimoji="1" lang="ja-JP" altLang="en-US" dirty="0"/>
              <a:t>の挿入」を選択します。</a:t>
            </a:r>
            <a:endParaRPr kumimoji="1" lang="en-US" altLang="ja-JP" dirty="0"/>
          </a:p>
          <a:p>
            <a:r>
              <a:rPr lang="ja-JP" altLang="en-US" dirty="0"/>
              <a:t>流れの図の中に●が出てくるので，適切な挿入箇所を選択して下さい。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B198736-48EC-4CCB-9530-C7F81846E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43" y="1878543"/>
            <a:ext cx="7340513" cy="4614332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3D98A8E3-9AE9-49B8-9407-0D029B1FB3EA}"/>
              </a:ext>
            </a:extLst>
          </p:cNvPr>
          <p:cNvSpPr/>
          <p:nvPr/>
        </p:nvSpPr>
        <p:spPr>
          <a:xfrm>
            <a:off x="4322276" y="5384271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120F0E-2DD9-484E-9D65-A1242E6F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8401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92D9A8-C038-40C9-B496-52448915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Loop</a:t>
            </a:r>
            <a:r>
              <a:rPr kumimoji="1" lang="ja-JP" altLang="en-US" b="1" dirty="0"/>
              <a:t>の挿入２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8B9FA8-5A11-47D5-B218-B3487854D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47067" cy="4351338"/>
          </a:xfrm>
        </p:spPr>
        <p:txBody>
          <a:bodyPr>
            <a:normAutofit fontScale="92500"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確認のために</a:t>
            </a:r>
            <a:r>
              <a:rPr kumimoji="1" lang="ja-JP" altLang="en-US" dirty="0"/>
              <a:t>，</a:t>
            </a:r>
            <a:r>
              <a:rPr kumimoji="1" lang="en-US" altLang="ja-JP" dirty="0"/>
              <a:t>[Loop</a:t>
            </a:r>
            <a:r>
              <a:rPr kumimoji="1" lang="ja-JP" altLang="en-US" dirty="0"/>
              <a:t>の種類</a:t>
            </a:r>
            <a:r>
              <a:rPr kumimoji="1" lang="en-US" altLang="ja-JP" dirty="0"/>
              <a:t>]</a:t>
            </a:r>
            <a:r>
              <a:rPr kumimoji="1" lang="ja-JP" altLang="en-US" dirty="0"/>
              <a:t>は</a:t>
            </a:r>
            <a:r>
              <a:rPr kumimoji="1" lang="en-US" altLang="ja-JP" dirty="0">
                <a:solidFill>
                  <a:srgbClr val="FF0000"/>
                </a:solidFill>
              </a:rPr>
              <a:t>sequential</a:t>
            </a:r>
            <a:r>
              <a:rPr kumimoji="1" lang="ja-JP" altLang="en-US" dirty="0"/>
              <a:t>に，［繰り返し回数］は</a:t>
            </a:r>
            <a:r>
              <a:rPr kumimoji="1" lang="en-US" altLang="ja-JP" dirty="0">
                <a:solidFill>
                  <a:srgbClr val="FF0000"/>
                </a:solidFill>
              </a:rPr>
              <a:t>1</a:t>
            </a:r>
            <a:r>
              <a:rPr kumimoji="1" lang="ja-JP" altLang="en-US" dirty="0"/>
              <a:t>にしておきます。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エクセルを選択したら，パラメータの数や条件数があっているか確認しましょう。（</a:t>
            </a:r>
            <a:r>
              <a:rPr lang="en-US" altLang="ja-JP" dirty="0"/>
              <a:t>※</a:t>
            </a:r>
            <a:r>
              <a:rPr lang="ja-JP" altLang="en-US" dirty="0"/>
              <a:t>今回皆さんは</a:t>
            </a:r>
            <a:r>
              <a:rPr lang="ja-JP" altLang="en-US" u="sng" dirty="0"/>
              <a:t>２パラメータ</a:t>
            </a:r>
            <a:r>
              <a:rPr lang="ja-JP" altLang="en-US" dirty="0"/>
              <a:t>になっているはずです。）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5C8398F-E6C5-4504-9608-01D42F538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25" y="1319213"/>
            <a:ext cx="6610350" cy="5162550"/>
          </a:xfrm>
          <a:prstGeom prst="rect">
            <a:avLst/>
          </a:prstGeom>
        </p:spPr>
      </p:pic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2F6040-5C5F-4329-957F-84676EE7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20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B8FB3-ABC9-4985-B004-CF902736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エクセルで指定した通りに画像が表示されるか確認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8C9DA0-5EB2-4A5E-AEDF-FCC592EC3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FE6187B-EBD7-42A6-84D3-BF99CB054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43" y="1867958"/>
            <a:ext cx="7340513" cy="461433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4A27350-60B7-4EFA-AA22-DD50557C2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775" y="6117696"/>
            <a:ext cx="676275" cy="609600"/>
          </a:xfrm>
          <a:prstGeom prst="rect">
            <a:avLst/>
          </a:prstGeom>
        </p:spPr>
      </p:pic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BD82E9-D6E3-4029-9CF0-9471A26C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568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E4B062-BA11-4011-8002-7F1E5B0C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h</a:t>
            </a:r>
            <a:r>
              <a:rPr kumimoji="1" lang="en-US" altLang="ja-JP" b="1" dirty="0">
                <a:highlight>
                  <a:srgbClr val="00FF00"/>
                </a:highlight>
              </a:rPr>
              <a:t>ighlight</a:t>
            </a:r>
            <a:endParaRPr kumimoji="1" lang="ja-JP" altLang="en-US" b="1" dirty="0">
              <a:highlight>
                <a:srgbClr val="00FF00"/>
              </a:highlight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2AF546-4C63-4808-B0A1-6A789DA55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choice</a:t>
            </a:r>
            <a:r>
              <a:rPr kumimoji="1" lang="ja-JP" altLang="en-US" dirty="0"/>
              <a:t>」という名前の</a:t>
            </a:r>
            <a:r>
              <a:rPr kumimoji="1" lang="en-US" altLang="ja-JP" dirty="0"/>
              <a:t>Routine</a:t>
            </a:r>
            <a:r>
              <a:rPr kumimoji="1" lang="ja-JP" altLang="en-US" dirty="0"/>
              <a:t>をコピーして，新しく「</a:t>
            </a:r>
            <a:r>
              <a:rPr lang="en-US" altLang="ja-JP" dirty="0"/>
              <a:t>h</a:t>
            </a:r>
            <a:r>
              <a:rPr kumimoji="1" lang="en-US" altLang="ja-JP" dirty="0"/>
              <a:t>ighlight</a:t>
            </a:r>
            <a:r>
              <a:rPr kumimoji="1" lang="ja-JP" altLang="en-US" dirty="0"/>
              <a:t>」という名前の</a:t>
            </a:r>
            <a:r>
              <a:rPr kumimoji="1" lang="en-US" altLang="ja-JP" dirty="0"/>
              <a:t>Routine</a:t>
            </a:r>
            <a:r>
              <a:rPr kumimoji="1" lang="ja-JP" altLang="en-US" dirty="0"/>
              <a:t>を作ります。</a:t>
            </a:r>
            <a:endParaRPr kumimoji="1" lang="en-US" altLang="ja-JP" dirty="0"/>
          </a:p>
          <a:p>
            <a:r>
              <a:rPr lang="ja-JP" altLang="en-US" dirty="0"/>
              <a:t>画像の表示はそのままなので，</a:t>
            </a:r>
            <a:r>
              <a:rPr lang="en-US" altLang="ja-JP" dirty="0"/>
              <a:t>(new) </a:t>
            </a:r>
            <a:r>
              <a:rPr lang="ja-JP" altLang="en-US" dirty="0"/>
              <a:t>で新しく作成するより効率的です。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6BDA2AD-9EF3-4AA0-8D23-42DB42F5C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784" y="3141133"/>
            <a:ext cx="6232679" cy="351340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C34BCB-69C3-4F7D-8D25-043FEE0835CA}"/>
              </a:ext>
            </a:extLst>
          </p:cNvPr>
          <p:cNvSpPr txBox="1"/>
          <p:nvPr/>
        </p:nvSpPr>
        <p:spPr>
          <a:xfrm>
            <a:off x="5723466" y="4001294"/>
            <a:ext cx="492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①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②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8F41AD-D9F3-4F44-9AC3-9D7A6D69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511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219BFF-C15B-4EA6-A977-68816130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highlight</a:t>
            </a:r>
            <a:endParaRPr kumimoji="1" lang="ja-JP" altLang="en-US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9A75BED-45D4-4B20-A2E4-D04CE2EF6CF4}"/>
              </a:ext>
            </a:extLst>
          </p:cNvPr>
          <p:cNvSpPr/>
          <p:nvPr/>
        </p:nvSpPr>
        <p:spPr>
          <a:xfrm>
            <a:off x="952543" y="2607204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04949E0-0FD6-4DF4-99BF-D6050B90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7666" y="1825625"/>
            <a:ext cx="3776133" cy="4351338"/>
          </a:xfrm>
        </p:spPr>
        <p:txBody>
          <a:bodyPr/>
          <a:lstStyle/>
          <a:p>
            <a:r>
              <a:rPr lang="en-US" altLang="ja-JP" dirty="0"/>
              <a:t>highlight </a:t>
            </a:r>
            <a:r>
              <a:rPr lang="ja-JP" altLang="en-US" dirty="0"/>
              <a:t>の タブを選択。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[Routine</a:t>
            </a:r>
            <a:r>
              <a:rPr lang="ja-JP" altLang="en-US" dirty="0"/>
              <a:t>を挿入</a:t>
            </a:r>
            <a:r>
              <a:rPr lang="en-US" altLang="ja-JP" dirty="0"/>
              <a:t>]</a:t>
            </a:r>
            <a:r>
              <a:rPr lang="ja-JP" altLang="en-US" dirty="0"/>
              <a:t>で適切な場所に挿入しましょう。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BFFB175-DE73-4E07-9F45-07BA1E14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71" y="1298841"/>
            <a:ext cx="7228462" cy="5443976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0E3FCDE7-CB64-402D-9E52-AFC9D428C3E8}"/>
              </a:ext>
            </a:extLst>
          </p:cNvPr>
          <p:cNvSpPr/>
          <p:nvPr/>
        </p:nvSpPr>
        <p:spPr>
          <a:xfrm>
            <a:off x="952543" y="2107937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BC6E1FD-0BF6-4ED8-93F6-C6A1D0C2BFA3}"/>
              </a:ext>
            </a:extLst>
          </p:cNvPr>
          <p:cNvSpPr/>
          <p:nvPr/>
        </p:nvSpPr>
        <p:spPr>
          <a:xfrm>
            <a:off x="4356143" y="5772679"/>
            <a:ext cx="1333457" cy="71067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65E4ECF-CE54-4786-91A7-378158D7FBA0}"/>
              </a:ext>
            </a:extLst>
          </p:cNvPr>
          <p:cNvSpPr/>
          <p:nvPr/>
        </p:nvSpPr>
        <p:spPr>
          <a:xfrm>
            <a:off x="0" y="5421751"/>
            <a:ext cx="1333457" cy="71067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75E803BA-ED0A-4AF3-8389-30FDDF33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7865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219BFF-C15B-4EA6-A977-68816130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highlight</a:t>
            </a:r>
            <a:endParaRPr kumimoji="1" lang="ja-JP" altLang="en-US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9A75BED-45D4-4B20-A2E4-D04CE2EF6CF4}"/>
              </a:ext>
            </a:extLst>
          </p:cNvPr>
          <p:cNvSpPr/>
          <p:nvPr/>
        </p:nvSpPr>
        <p:spPr>
          <a:xfrm>
            <a:off x="952543" y="2607204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04949E0-0FD6-4DF4-99BF-D6050B90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7666" y="1825625"/>
            <a:ext cx="3776133" cy="4351338"/>
          </a:xfrm>
        </p:spPr>
        <p:txBody>
          <a:bodyPr/>
          <a:lstStyle/>
          <a:p>
            <a:r>
              <a:rPr lang="en-US" altLang="ja-JP" dirty="0"/>
              <a:t>highlight </a:t>
            </a:r>
            <a:r>
              <a:rPr lang="ja-JP" altLang="en-US" dirty="0"/>
              <a:t>の タブを選択。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[Routine</a:t>
            </a:r>
            <a:r>
              <a:rPr lang="ja-JP" altLang="en-US" dirty="0"/>
              <a:t>を挿入</a:t>
            </a:r>
            <a:r>
              <a:rPr lang="en-US" altLang="ja-JP" dirty="0"/>
              <a:t>]</a:t>
            </a:r>
            <a:r>
              <a:rPr lang="ja-JP" altLang="en-US" dirty="0"/>
              <a:t>で適切な場所に挿入しましょう。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BFFB175-DE73-4E07-9F45-07BA1E14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71" y="1298841"/>
            <a:ext cx="7228462" cy="5443976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0E3FCDE7-CB64-402D-9E52-AFC9D428C3E8}"/>
              </a:ext>
            </a:extLst>
          </p:cNvPr>
          <p:cNvSpPr/>
          <p:nvPr/>
        </p:nvSpPr>
        <p:spPr>
          <a:xfrm>
            <a:off x="952543" y="2107937"/>
            <a:ext cx="1134533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BC6E1FD-0BF6-4ED8-93F6-C6A1D0C2BFA3}"/>
              </a:ext>
            </a:extLst>
          </p:cNvPr>
          <p:cNvSpPr/>
          <p:nvPr/>
        </p:nvSpPr>
        <p:spPr>
          <a:xfrm>
            <a:off x="4356143" y="5772679"/>
            <a:ext cx="1333457" cy="71067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65E4ECF-CE54-4786-91A7-378158D7FBA0}"/>
              </a:ext>
            </a:extLst>
          </p:cNvPr>
          <p:cNvSpPr/>
          <p:nvPr/>
        </p:nvSpPr>
        <p:spPr>
          <a:xfrm>
            <a:off x="0" y="5421751"/>
            <a:ext cx="1333457" cy="71067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346115F-B83C-4EC5-ABBF-F1A1434A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945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7F56E7-DD15-4561-BE81-48062E97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highlight>
                  <a:srgbClr val="00FF00"/>
                </a:highlight>
              </a:rPr>
              <a:t>highlight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8EA69C-2A08-44CA-8895-ACC1B61FC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AE76FAB-8C32-4048-9122-3BF58FBF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97" y="1313196"/>
            <a:ext cx="8295494" cy="5536866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80D6F4D7-2F2A-4D6C-B291-0C6A61821238}"/>
              </a:ext>
            </a:extLst>
          </p:cNvPr>
          <p:cNvSpPr/>
          <p:nvPr/>
        </p:nvSpPr>
        <p:spPr>
          <a:xfrm>
            <a:off x="1067989" y="4646798"/>
            <a:ext cx="1848182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35021CE-59A9-4C5A-A8B5-ABC69A3BD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998" y="541156"/>
            <a:ext cx="4729805" cy="5167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0252548-5A95-463A-AA19-D5CD4F4BE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967" y="1408642"/>
            <a:ext cx="4518058" cy="2672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C64032E-91D1-4A1F-A9DA-35462ABF2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775" y="6117696"/>
            <a:ext cx="676275" cy="609600"/>
          </a:xfrm>
          <a:prstGeom prst="rect">
            <a:avLst/>
          </a:prstGeom>
        </p:spPr>
      </p:pic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88BA054-26FD-476E-868F-365D36B9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08AD620-F6EC-46F1-949E-B5BFB9441036}"/>
              </a:ext>
            </a:extLst>
          </p:cNvPr>
          <p:cNvSpPr txBox="1"/>
          <p:nvPr/>
        </p:nvSpPr>
        <p:spPr>
          <a:xfrm>
            <a:off x="0" y="3203266"/>
            <a:ext cx="1236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長さを</a:t>
            </a:r>
            <a:endParaRPr kumimoji="1" lang="en-US" altLang="ja-JP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kumimoji="1" lang="en-US" altLang="ja-JP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ja-JP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秒に変更</a:t>
            </a:r>
            <a:endParaRPr kumimoji="1" lang="ja-JP" altLang="en-US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7C2BE5-7F84-44F7-AD0E-AB5B308D112D}"/>
              </a:ext>
            </a:extLst>
          </p:cNvPr>
          <p:cNvSpPr txBox="1"/>
          <p:nvPr/>
        </p:nvSpPr>
        <p:spPr>
          <a:xfrm>
            <a:off x="69763" y="418192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削除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67850C5-D002-4ED3-B099-B7A8C99C102E}"/>
              </a:ext>
            </a:extLst>
          </p:cNvPr>
          <p:cNvCxnSpPr>
            <a:stCxn id="11" idx="3"/>
          </p:cNvCxnSpPr>
          <p:nvPr/>
        </p:nvCxnSpPr>
        <p:spPr>
          <a:xfrm flipV="1">
            <a:off x="716094" y="4343400"/>
            <a:ext cx="790973" cy="231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左中かっこ 13">
            <a:extLst>
              <a:ext uri="{FF2B5EF4-FFF2-40B4-BE49-F238E27FC236}">
                <a16:creationId xmlns:a16="http://schemas.microsoft.com/office/drawing/2014/main" id="{37E2E319-BB01-4866-BFA4-87770054581E}"/>
              </a:ext>
            </a:extLst>
          </p:cNvPr>
          <p:cNvSpPr/>
          <p:nvPr/>
        </p:nvSpPr>
        <p:spPr>
          <a:xfrm>
            <a:off x="1395030" y="3297250"/>
            <a:ext cx="178532" cy="671699"/>
          </a:xfrm>
          <a:prstGeom prst="leftBrac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712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76FB19-EAFD-464B-BD5C-9139F080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A3B0B7-C281-4A0D-85C7-95CEDA9EC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この時点では，まだ，レスポンスによって，ハイライトの位置は変わりません。</a:t>
            </a:r>
            <a:endParaRPr kumimoji="1" lang="en-US" altLang="ja-JP" dirty="0"/>
          </a:p>
          <a:p>
            <a:r>
              <a:rPr lang="ja-JP" altLang="en-US" dirty="0"/>
              <a:t>一度，ちゃんと表示されるか，実行してみましょう。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F683A3A-EBCF-4A0E-8BEE-3C585A08D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529" y="2616200"/>
            <a:ext cx="676275" cy="609600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3F2FD8-E9C1-48F0-8B05-F4B6B1BC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567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CE6C3396-8A38-4452-AD4F-F336A3B62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236617"/>
            <a:ext cx="9067936" cy="562138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D81BF8A-187F-44CF-BCCE-05BFC41E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変数を設定</a:t>
            </a:r>
            <a:r>
              <a:rPr lang="en-US" altLang="ja-JP" b="1" dirty="0"/>
              <a:t> 1</a:t>
            </a:r>
            <a:endParaRPr kumimoji="1" lang="ja-JP" altLang="en-US" b="1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8223037-E1AB-43FD-B366-FBB71A810825}"/>
              </a:ext>
            </a:extLst>
          </p:cNvPr>
          <p:cNvSpPr/>
          <p:nvPr/>
        </p:nvSpPr>
        <p:spPr>
          <a:xfrm>
            <a:off x="945334" y="5976408"/>
            <a:ext cx="1848182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B5C5327-D758-4F8E-80EC-7FE8B5B198CB}"/>
              </a:ext>
            </a:extLst>
          </p:cNvPr>
          <p:cNvSpPr/>
          <p:nvPr/>
        </p:nvSpPr>
        <p:spPr>
          <a:xfrm>
            <a:off x="76199" y="2623608"/>
            <a:ext cx="1126068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5EA625C5-E79B-4229-9BBD-C3429CAFC322}"/>
              </a:ext>
            </a:extLst>
          </p:cNvPr>
          <p:cNvSpPr/>
          <p:nvPr/>
        </p:nvSpPr>
        <p:spPr>
          <a:xfrm>
            <a:off x="6594082" y="2672996"/>
            <a:ext cx="778933" cy="3894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FBBC417-BB2F-49CF-B2B3-47D8CFC3A780}"/>
              </a:ext>
            </a:extLst>
          </p:cNvPr>
          <p:cNvSpPr txBox="1"/>
          <p:nvPr/>
        </p:nvSpPr>
        <p:spPr>
          <a:xfrm>
            <a:off x="4469396" y="4642908"/>
            <a:ext cx="7540847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800" b="1" dirty="0" err="1"/>
              <a:t>posi</a:t>
            </a:r>
            <a:r>
              <a:rPr kumimoji="1" lang="ja-JP" altLang="en-US" sz="2800" dirty="0"/>
              <a:t> という名前の変数を新しく作成し，</a:t>
            </a:r>
            <a:endParaRPr kumimoji="1" lang="en-US" altLang="ja-JP" sz="2800" dirty="0"/>
          </a:p>
          <a:p>
            <a:r>
              <a:rPr lang="ja-JP" altLang="en-US" sz="2800" dirty="0"/>
              <a:t>反応によって，座標を変えます。</a:t>
            </a:r>
            <a:endParaRPr lang="en-US" altLang="ja-JP" sz="2800" dirty="0"/>
          </a:p>
          <a:p>
            <a:r>
              <a:rPr kumimoji="1" lang="ja-JP" altLang="en-US" sz="2800" dirty="0"/>
              <a:t>この </a:t>
            </a:r>
            <a:r>
              <a:rPr kumimoji="1" lang="en-US" altLang="ja-JP" sz="2800" dirty="0" err="1"/>
              <a:t>posi</a:t>
            </a:r>
            <a:r>
              <a:rPr kumimoji="1" lang="en-US" altLang="ja-JP" sz="2800" dirty="0"/>
              <a:t> </a:t>
            </a:r>
            <a:r>
              <a:rPr kumimoji="1" lang="ja-JP" altLang="en-US" sz="2800" dirty="0"/>
              <a:t>変数は，あとで，ハイライトの位置</a:t>
            </a:r>
            <a:endParaRPr kumimoji="1" lang="en-US" altLang="ja-JP" sz="2800" dirty="0"/>
          </a:p>
          <a:p>
            <a:r>
              <a:rPr kumimoji="1" lang="ja-JP" altLang="en-US" sz="2800" dirty="0"/>
              <a:t>を指定</a:t>
            </a:r>
            <a:r>
              <a:rPr lang="ja-JP" altLang="en-US" sz="2800" dirty="0"/>
              <a:t>するのに使用します。</a:t>
            </a:r>
            <a:endParaRPr kumimoji="1" lang="en-US" altLang="ja-JP" sz="2800" dirty="0"/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F007C314-14DC-4F99-8AD3-8FFE4C5C406D}"/>
              </a:ext>
            </a:extLst>
          </p:cNvPr>
          <p:cNvSpPr/>
          <p:nvPr/>
        </p:nvSpPr>
        <p:spPr>
          <a:xfrm>
            <a:off x="4259862" y="1046424"/>
            <a:ext cx="3335866" cy="634869"/>
          </a:xfrm>
          <a:prstGeom prst="wedgeRectCallout">
            <a:avLst>
              <a:gd name="adj1" fmla="val -35535"/>
              <a:gd name="adj2" fmla="val 30869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ここは，</a:t>
            </a:r>
            <a:r>
              <a:rPr kumimoji="1" lang="ja-JP" altLang="en-US" b="1" dirty="0">
                <a:highlight>
                  <a:srgbClr val="FF00FF"/>
                </a:highlight>
              </a:rPr>
              <a:t>＿＿＿</a:t>
            </a:r>
            <a:r>
              <a:rPr kumimoji="1" lang="en-US" altLang="ja-JP" b="1" dirty="0"/>
              <a:t>.key </a:t>
            </a:r>
            <a:r>
              <a:rPr kumimoji="1" lang="ja-JP" altLang="en-US" dirty="0"/>
              <a:t>とします。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FFD156F-08B9-4A38-AFE6-EBE3132A192F}"/>
              </a:ext>
            </a:extLst>
          </p:cNvPr>
          <p:cNvSpPr/>
          <p:nvPr/>
        </p:nvSpPr>
        <p:spPr>
          <a:xfrm>
            <a:off x="762000" y="5341696"/>
            <a:ext cx="1210733" cy="397933"/>
          </a:xfrm>
          <a:prstGeom prst="rect">
            <a:avLst/>
          </a:prstGeom>
          <a:noFill/>
          <a:ln w="762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E9089BE-8D27-4DD5-85C1-E2C5C896B997}"/>
              </a:ext>
            </a:extLst>
          </p:cNvPr>
          <p:cNvCxnSpPr>
            <a:cxnSpLocks/>
          </p:cNvCxnSpPr>
          <p:nvPr/>
        </p:nvCxnSpPr>
        <p:spPr>
          <a:xfrm flipV="1">
            <a:off x="1202267" y="1422400"/>
            <a:ext cx="3620695" cy="38269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834892B6-19B2-42B3-B77D-C7F2F781F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661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4DB192-3FDF-48A8-B0A0-BE998217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変数を設定 </a:t>
            </a:r>
            <a:r>
              <a:rPr lang="en-US" altLang="ja-JP" b="1" dirty="0"/>
              <a:t>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5B8C64-E08E-48EB-B0F6-5088D0A8C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9FBE31A-6876-43E2-A32E-AC9AF4ED6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910" y="537176"/>
            <a:ext cx="7657074" cy="6251791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80A127D7-7845-4507-B334-81306409CBAC}"/>
              </a:ext>
            </a:extLst>
          </p:cNvPr>
          <p:cNvSpPr/>
          <p:nvPr/>
        </p:nvSpPr>
        <p:spPr>
          <a:xfrm>
            <a:off x="4945983" y="2179471"/>
            <a:ext cx="1126068" cy="5164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333AF4F-1F67-42A5-859E-8C575CBCA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16" y="6176963"/>
            <a:ext cx="676275" cy="609600"/>
          </a:xfrm>
          <a:prstGeom prst="rect">
            <a:avLst/>
          </a:prstGeom>
        </p:spPr>
      </p:pic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408F1994-40F0-46A6-B842-8F31657E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7121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833</Words>
  <Application>Microsoft Office PowerPoint</Application>
  <PresentationFormat>ワイド画面</PresentationFormat>
  <Paragraphs>105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游ゴシック</vt:lpstr>
      <vt:lpstr>游ゴシック Light</vt:lpstr>
      <vt:lpstr>Arial</vt:lpstr>
      <vt:lpstr>Office テーマ</vt:lpstr>
      <vt:lpstr> PsychoPyで課題作成①</vt:lpstr>
      <vt:lpstr>課題： 以下のような選択課題をつくりましょう。</vt:lpstr>
      <vt:lpstr>PsychoPyで課題作成時の注意点</vt:lpstr>
      <vt:lpstr>PsychoPyで課題作成時の注意点</vt:lpstr>
      <vt:lpstr>Tips: 新しいRoutineを 作成する方法</vt:lpstr>
      <vt:lpstr>Tips: 画面の位置に関して</vt:lpstr>
      <vt:lpstr>具体的な作成の手順</vt:lpstr>
      <vt:lpstr>必要な変数を作る</vt:lpstr>
      <vt:lpstr>cross</vt:lpstr>
      <vt:lpstr>choice</vt:lpstr>
      <vt:lpstr>choice</vt:lpstr>
      <vt:lpstr>Loopの挿入１</vt:lpstr>
      <vt:lpstr>Loopの挿入２</vt:lpstr>
      <vt:lpstr>エクセルで指定した通りに画像が表示されるか確認</vt:lpstr>
      <vt:lpstr>highlight</vt:lpstr>
      <vt:lpstr>highlight</vt:lpstr>
      <vt:lpstr>highlight</vt:lpstr>
      <vt:lpstr>highlight</vt:lpstr>
      <vt:lpstr>PowerPoint プレゼンテーション</vt:lpstr>
      <vt:lpstr>変数を設定 1</vt:lpstr>
      <vt:lpstr>変数を設定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toyama asako</dc:creator>
  <cp:lastModifiedBy>toyama asako</cp:lastModifiedBy>
  <cp:revision>27</cp:revision>
  <dcterms:created xsi:type="dcterms:W3CDTF">2019-10-31T14:38:09Z</dcterms:created>
  <dcterms:modified xsi:type="dcterms:W3CDTF">2020-07-27T07:48:34Z</dcterms:modified>
</cp:coreProperties>
</file>